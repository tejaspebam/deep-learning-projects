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stands for Artificial Intelligence — the science of making machines that can think, learn, and act intelligently, similar to humans. The term was coined in 1956 at the Dartmouth Conference by John McCarthy and colleagues, which is considered the official birth of AI as a research field. Today AI is important because it saves time, automates repetitive tasks, and helps us make better decisions using data. Ask students: how many apps on their own phone already use AI? Point out Google Maps (route prediction), Siri/Alexa (voice assistants), Netflix (recommendation engines) and ChatGPT (generative AI) as everyday, relatable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AI (also called 'Symbolic AI' or 'Good Old-Fashioned AI') relied on hand-written rules created by human experts, not learning from data. Alan Turing's 1950 paper asked 'Can machines think?' and proposed the Turing Test — a human judge chats blindly with a human and a machine, and if the judge cannot reliably tell which is which, the machine is said to exhibit intelligent behaviour. The Dartmouth Conference in 1956 is where the term Artificial Intelligence was first used. Expert systems like MYCIN attempted to replicate expert decision-making using IF-THEN rules. These systems worked well in narrow domains but broke down with real-world uncertainty and could not learn — this rigidity led to reduced funding, known as the 'AI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(ML) is a subset of AI where machines learn patterns directly from data rather than being explicitly programmed with rules. Explain the three types simply: Supervised learning uses labelled examples (like emails marked spam/not spam); Unsupervised learning finds groupings or structure in data without labels (like customer segmentation); Reinforcement learning learns through trial and error using rewards and penalties (like a game-playing agent). Walk through the ML workflow diagram: we collect Data, Train a model on it, the model becomes a trained Model, and it is used to Predict on new data. Real examples: Gmail's spam filter, Netflix's 'because you watched' recommendations, and banks flagging unusual transactions as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(DL) is a specialised subset of Machine Learning that uses artificial neural networks with many layers — hence 'deep'. These layers are loosely inspired by neurons in the human brain, where each artificial neuron receives inputs, applies a weight, and passes a signal forward. The key difference from traditional ML: in classic ML, humans manually select which features matter (e.g., 'edges' or 'colour'); in DL, the network automatically discovers useful features directly from raw data such as pixels or audio waveforms. This is why DL powers face recognition (unlocking phones), self-driving car perception systems, and voice assistants like Alexa or Google Assistant. The trade-off is DL needs large labelled datasets and powerful GPUs, and its decisions can be hard to explain — often called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is a newer branch of Deep Learning focused on creating new content rather than just classifying or predicting. These models are trained on huge datasets of text, images, or audio, and learn the underlying patterns well enough to generate original, human-like output when given a prompt. Popular examples students likely already use: ChatGPT and Claude for text and conversation, Gemini for Google's assistant experience, and Midjourney or DALL·E for image generation. Real-world uses include drafting essays, generating marketing images, writing code, and composing music. However, this power brings ethical challenges: generated content can spread misinformation, deepfakes can impersonate real people, there are open questions about copyright of AI-generated work, and concerns about job displacement in creative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several trends will shape the next phase of AI. Artificial General Intelligence (AGI) refers to a hypothetical AI that can reason and learn across any task the way a human can — we are not there yet. In Healthcare, AI is already assisting with faster diagnosis and personalised treatment plans. In Education, adaptive learning platforms tailor content to each student's pace. Robotics and Autonomous Vehicles combine AI perception with physical action, from warehouse robots to self-driving cars. AI + IoT means everyday smart devices — thermostats, wearables, appliances — sensing data and acting on it automatically. Finally, two responsibility-focused trends: Explainable AI (making AI decisions understandable to humans) and Responsible AI (ensuring AI is fair, safe, and used ethically) are becoming essential as AI's influence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four stages of AI evolution we've covered, side by side. Early AI relied on fixed rules and could not learn — think of expert systems like MYCIN which diagnosed infections using IF-THEN logic. Machine Learning introduced the ability to learn patterns from data, powering things like spam filters, but needs large clean datasets. Deep Learning uses multi-layered neural networks to automatically learn features, enabling face recognition and self-driving cars, at the cost of heavy compute and interpretability. Generative AI, the newest stage, creates entirely new content — text, images, video — but raises fresh ethical challenges around bias, misinformation and copyright. Use this table as a quick revision summary before moving to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Artificial Intelligence has evolved through four major stages — Early rule-based AI, Machine Learning, Deep Learning, and now Generative AI — each stage building on the last and becoming more capable. As these systems grow more powerful and are used in healthcare, education, finance and daily life, it becomes essential to build them responsibly: fair, transparent, safe, and accountable. Looking forward, there are huge opportunities for students entering this field — in research, application development, ethics, and policy. The key takeaway for the class: AI is a tool that amplifies human intelligence and creativity — it works best when guided responsibly by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academic and industry sources referenced for this presentation, formatted in APA style. Russell &amp; Norvig's textbook and Goodfellow, Bengio &amp; Courville's Deep Learning book are the standard academic references in this field — worth citing in your own assignments. The organisational sources (OpenAI, Google AI, IBM, Microsoft, IEEE) represent leading industry and research bodies actively shaping AI's development today, useful for further reading beyond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92640" y="1188720"/>
            <a:ext cx="1005840" cy="731520"/>
          </a:xfrm>
          <a:prstGeom prst="line">
            <a:avLst/>
          </a:prstGeom>
          <a:noFill/>
          <a:ln w="15875">
            <a:solidFill>
              <a:srgbClr val="1E5AA8">
                <a:alpha val="70000"/>
              </a:srgbClr>
            </a:solidFill>
            <a:prstDash val="solid"/>
          </a:ln>
        </p:spPr>
      </p:sp>
      <p:sp>
        <p:nvSpPr>
          <p:cNvPr id="3" name="Shape 1"/>
          <p:cNvSpPr/>
          <p:nvPr/>
        </p:nvSpPr>
        <p:spPr>
          <a:xfrm flipH="1">
            <a:off x="9052560" y="1188720"/>
            <a:ext cx="640080" cy="1005840"/>
          </a:xfrm>
          <a:prstGeom prst="line">
            <a:avLst/>
          </a:prstGeom>
          <a:noFill/>
          <a:ln w="15875">
            <a:solidFill>
              <a:srgbClr val="1E5AA8">
                <a:alpha val="70000"/>
              </a:srgbClr>
            </a:solidFill>
            <a:prstDash val="solid"/>
          </a:ln>
        </p:spPr>
      </p:sp>
      <p:sp>
        <p:nvSpPr>
          <p:cNvPr id="4" name="Shape 2"/>
          <p:cNvSpPr/>
          <p:nvPr/>
        </p:nvSpPr>
        <p:spPr>
          <a:xfrm flipH="1">
            <a:off x="10332720" y="1920240"/>
            <a:ext cx="365760" cy="1097280"/>
          </a:xfrm>
          <a:prstGeom prst="line">
            <a:avLst/>
          </a:prstGeom>
          <a:noFill/>
          <a:ln w="15875">
            <a:solidFill>
              <a:srgbClr val="1E5AA8">
                <a:alpha val="70000"/>
              </a:srgbClr>
            </a:solidFill>
            <a:prstDash val="solid"/>
          </a:ln>
        </p:spPr>
      </p:sp>
      <p:sp>
        <p:nvSpPr>
          <p:cNvPr id="5" name="Shape 3"/>
          <p:cNvSpPr/>
          <p:nvPr/>
        </p:nvSpPr>
        <p:spPr>
          <a:xfrm>
            <a:off x="9052560" y="2194560"/>
            <a:ext cx="182880" cy="1463040"/>
          </a:xfrm>
          <a:prstGeom prst="line">
            <a:avLst/>
          </a:prstGeom>
          <a:noFill/>
          <a:ln w="15875">
            <a:solidFill>
              <a:srgbClr val="1E5AA8">
                <a:alpha val="70000"/>
              </a:srgbClr>
            </a:solidFill>
            <a:prstDash val="solid"/>
          </a:ln>
        </p:spPr>
      </p:sp>
      <p:sp>
        <p:nvSpPr>
          <p:cNvPr id="6" name="Shape 4"/>
          <p:cNvSpPr/>
          <p:nvPr/>
        </p:nvSpPr>
        <p:spPr>
          <a:xfrm>
            <a:off x="10332720" y="3017520"/>
            <a:ext cx="1005840" cy="548640"/>
          </a:xfrm>
          <a:prstGeom prst="line">
            <a:avLst/>
          </a:prstGeom>
          <a:noFill/>
          <a:ln w="15875">
            <a:solidFill>
              <a:srgbClr val="1E5AA8">
                <a:alpha val="70000"/>
              </a:srgbClr>
            </a:solidFill>
            <a:prstDash val="solid"/>
          </a:ln>
        </p:spPr>
      </p:sp>
      <p:sp>
        <p:nvSpPr>
          <p:cNvPr id="7" name="Shape 5"/>
          <p:cNvSpPr/>
          <p:nvPr/>
        </p:nvSpPr>
        <p:spPr>
          <a:xfrm flipH="1">
            <a:off x="10058400" y="3017520"/>
            <a:ext cx="274320" cy="1463040"/>
          </a:xfrm>
          <a:prstGeom prst="line">
            <a:avLst/>
          </a:prstGeom>
          <a:noFill/>
          <a:ln w="15875">
            <a:solidFill>
              <a:srgbClr val="1E5AA8">
                <a:alpha val="70000"/>
              </a:srgbClr>
            </a:solidFill>
            <a:prstDash val="solid"/>
          </a:ln>
        </p:spPr>
      </p:sp>
      <p:sp>
        <p:nvSpPr>
          <p:cNvPr id="8" name="Shape 6"/>
          <p:cNvSpPr/>
          <p:nvPr/>
        </p:nvSpPr>
        <p:spPr>
          <a:xfrm>
            <a:off x="9235440" y="3657600"/>
            <a:ext cx="822960" cy="822960"/>
          </a:xfrm>
          <a:prstGeom prst="line">
            <a:avLst/>
          </a:prstGeom>
          <a:noFill/>
          <a:ln w="15875">
            <a:solidFill>
              <a:srgbClr val="1E5AA8">
                <a:alpha val="70000"/>
              </a:srgbClr>
            </a:solidFill>
            <a:prstDash val="solid"/>
          </a:ln>
        </p:spPr>
      </p:sp>
      <p:sp>
        <p:nvSpPr>
          <p:cNvPr id="9" name="Shape 7"/>
          <p:cNvSpPr/>
          <p:nvPr/>
        </p:nvSpPr>
        <p:spPr>
          <a:xfrm flipV="1">
            <a:off x="10698480" y="1463040"/>
            <a:ext cx="731520" cy="457200"/>
          </a:xfrm>
          <a:prstGeom prst="line">
            <a:avLst/>
          </a:prstGeom>
          <a:noFill/>
          <a:ln w="15875">
            <a:solidFill>
              <a:srgbClr val="1E5AA8">
                <a:alpha val="70000"/>
              </a:srgbClr>
            </a:solidFill>
            <a:prstDash val="solid"/>
          </a:ln>
        </p:spPr>
      </p:sp>
      <p:sp>
        <p:nvSpPr>
          <p:cNvPr id="10" name="Shape 8"/>
          <p:cNvSpPr/>
          <p:nvPr/>
        </p:nvSpPr>
        <p:spPr>
          <a:xfrm flipH="1">
            <a:off x="8595360" y="2194560"/>
            <a:ext cx="457200" cy="914400"/>
          </a:xfrm>
          <a:prstGeom prst="line">
            <a:avLst/>
          </a:prstGeom>
          <a:noFill/>
          <a:ln w="15875">
            <a:solidFill>
              <a:srgbClr val="1E5AA8">
                <a:alpha val="70000"/>
              </a:srgbClr>
            </a:solidFill>
            <a:prstDash val="solid"/>
          </a:ln>
        </p:spPr>
      </p:sp>
      <p:sp>
        <p:nvSpPr>
          <p:cNvPr id="11" name="Shape 9"/>
          <p:cNvSpPr/>
          <p:nvPr/>
        </p:nvSpPr>
        <p:spPr>
          <a:xfrm flipH="1" flipV="1">
            <a:off x="8595360" y="3108960"/>
            <a:ext cx="640080" cy="548640"/>
          </a:xfrm>
          <a:prstGeom prst="line">
            <a:avLst/>
          </a:prstGeom>
          <a:noFill/>
          <a:ln w="15875">
            <a:solidFill>
              <a:srgbClr val="1E5AA8">
                <a:alpha val="70000"/>
              </a:srgbClr>
            </a:solidFill>
            <a:prstDash val="solid"/>
          </a:ln>
        </p:spPr>
      </p:sp>
      <p:sp>
        <p:nvSpPr>
          <p:cNvPr id="12" name="Shape 10"/>
          <p:cNvSpPr/>
          <p:nvPr/>
        </p:nvSpPr>
        <p:spPr>
          <a:xfrm flipH="1">
            <a:off x="10058400" y="3566160"/>
            <a:ext cx="1280160" cy="914400"/>
          </a:xfrm>
          <a:prstGeom prst="line">
            <a:avLst/>
          </a:prstGeom>
          <a:noFill/>
          <a:ln w="15875">
            <a:solidFill>
              <a:srgbClr val="1E5AA8">
                <a:alpha val="70000"/>
              </a:srgbClr>
            </a:solidFill>
            <a:prstDash val="solid"/>
          </a:ln>
        </p:spPr>
      </p:sp>
      <p:sp>
        <p:nvSpPr>
          <p:cNvPr id="13" name="Shape 11"/>
          <p:cNvSpPr/>
          <p:nvPr/>
        </p:nvSpPr>
        <p:spPr>
          <a:xfrm>
            <a:off x="9564624" y="1060704"/>
            <a:ext cx="256032" cy="256032"/>
          </a:xfrm>
          <a:prstGeom prst="ellipse">
            <a:avLst/>
          </a:prstGeom>
          <a:solidFill>
            <a:srgbClr val="2F86EB"/>
          </a:solidFill>
          <a:ln/>
        </p:spPr>
      </p:sp>
      <p:sp>
        <p:nvSpPr>
          <p:cNvPr id="14" name="Shape 12"/>
          <p:cNvSpPr/>
          <p:nvPr/>
        </p:nvSpPr>
        <p:spPr>
          <a:xfrm>
            <a:off x="10616184" y="1837944"/>
            <a:ext cx="164592" cy="164592"/>
          </a:xfrm>
          <a:prstGeom prst="ellipse">
            <a:avLst/>
          </a:prstGeom>
          <a:solidFill>
            <a:srgbClr val="3E6FB0"/>
          </a:solidFill>
          <a:ln/>
        </p:spPr>
      </p:sp>
      <p:sp>
        <p:nvSpPr>
          <p:cNvPr id="15" name="Shape 13"/>
          <p:cNvSpPr/>
          <p:nvPr/>
        </p:nvSpPr>
        <p:spPr>
          <a:xfrm>
            <a:off x="8970264" y="2112264"/>
            <a:ext cx="164592" cy="164592"/>
          </a:xfrm>
          <a:prstGeom prst="ellipse">
            <a:avLst/>
          </a:prstGeom>
          <a:solidFill>
            <a:srgbClr val="3E6FB0"/>
          </a:solidFill>
          <a:ln/>
        </p:spPr>
      </p:sp>
      <p:sp>
        <p:nvSpPr>
          <p:cNvPr id="16" name="Shape 14"/>
          <p:cNvSpPr/>
          <p:nvPr/>
        </p:nvSpPr>
        <p:spPr>
          <a:xfrm>
            <a:off x="10204704" y="2889504"/>
            <a:ext cx="256032" cy="256032"/>
          </a:xfrm>
          <a:prstGeom prst="ellipse">
            <a:avLst/>
          </a:prstGeom>
          <a:solidFill>
            <a:srgbClr val="2F86EB"/>
          </a:solidFill>
          <a:ln/>
        </p:spPr>
      </p:sp>
      <p:sp>
        <p:nvSpPr>
          <p:cNvPr id="17" name="Shape 15"/>
          <p:cNvSpPr/>
          <p:nvPr/>
        </p:nvSpPr>
        <p:spPr>
          <a:xfrm>
            <a:off x="9153144" y="3575304"/>
            <a:ext cx="164592" cy="164592"/>
          </a:xfrm>
          <a:prstGeom prst="ellipse">
            <a:avLst/>
          </a:prstGeom>
          <a:solidFill>
            <a:srgbClr val="3E6FB0"/>
          </a:solidFill>
          <a:ln/>
        </p:spPr>
      </p:sp>
      <p:sp>
        <p:nvSpPr>
          <p:cNvPr id="18" name="Shape 16"/>
          <p:cNvSpPr/>
          <p:nvPr/>
        </p:nvSpPr>
        <p:spPr>
          <a:xfrm>
            <a:off x="11256264" y="3483864"/>
            <a:ext cx="164592" cy="164592"/>
          </a:xfrm>
          <a:prstGeom prst="ellipse">
            <a:avLst/>
          </a:prstGeom>
          <a:solidFill>
            <a:srgbClr val="3E6FB0"/>
          </a:solidFill>
          <a:ln/>
        </p:spPr>
      </p:sp>
      <p:sp>
        <p:nvSpPr>
          <p:cNvPr id="19" name="Shape 17"/>
          <p:cNvSpPr/>
          <p:nvPr/>
        </p:nvSpPr>
        <p:spPr>
          <a:xfrm>
            <a:off x="9930384" y="4352544"/>
            <a:ext cx="256032" cy="256032"/>
          </a:xfrm>
          <a:prstGeom prst="ellipse">
            <a:avLst/>
          </a:prstGeom>
          <a:solidFill>
            <a:srgbClr val="2F86EB"/>
          </a:solidFill>
          <a:ln/>
        </p:spPr>
      </p:sp>
      <p:sp>
        <p:nvSpPr>
          <p:cNvPr id="20" name="Shape 18"/>
          <p:cNvSpPr/>
          <p:nvPr/>
        </p:nvSpPr>
        <p:spPr>
          <a:xfrm>
            <a:off x="11347704" y="1380744"/>
            <a:ext cx="164592" cy="164592"/>
          </a:xfrm>
          <a:prstGeom prst="ellipse">
            <a:avLst/>
          </a:prstGeom>
          <a:solidFill>
            <a:srgbClr val="3E6FB0"/>
          </a:solidFill>
          <a:ln/>
        </p:spPr>
      </p:sp>
      <p:sp>
        <p:nvSpPr>
          <p:cNvPr id="21" name="Shape 19"/>
          <p:cNvSpPr/>
          <p:nvPr/>
        </p:nvSpPr>
        <p:spPr>
          <a:xfrm>
            <a:off x="8513064" y="3026664"/>
            <a:ext cx="164592" cy="164592"/>
          </a:xfrm>
          <a:prstGeom prst="ellipse">
            <a:avLst/>
          </a:prstGeom>
          <a:solidFill>
            <a:srgbClr val="3E6FB0"/>
          </a:solidFill>
          <a:ln/>
        </p:spPr>
      </p:sp>
      <p:sp>
        <p:nvSpPr>
          <p:cNvPr id="22" name="Text 20"/>
          <p:cNvSpPr/>
          <p:nvPr/>
        </p:nvSpPr>
        <p:spPr>
          <a:xfrm>
            <a:off x="640080" y="1965960"/>
            <a:ext cx="7315200" cy="365760"/>
          </a:xfrm>
          <a:prstGeom prst="rect">
            <a:avLst/>
          </a:prstGeom>
          <a:noFill/>
          <a:ln/>
        </p:spPr>
        <p:txBody>
          <a:bodyPr wrap="square" rtlCol="0" anchor="ctr"/>
          <a:lstStyle/>
          <a:p>
            <a:pPr indent="0" marL="0">
              <a:buNone/>
            </a:pPr>
            <a:r>
              <a:rPr lang="en-US" sz="1300" b="1" spc="300" kern="0" dirty="0">
                <a:solidFill>
                  <a:srgbClr val="2F86EB"/>
                </a:solidFill>
                <a:latin typeface="Calibri" pitchFamily="34" charset="0"/>
                <a:ea typeface="Calibri" pitchFamily="34" charset="-122"/>
                <a:cs typeface="Calibri" pitchFamily="34" charset="-120"/>
              </a:rPr>
              <a:t>BCA  •  ARTIFICIAL INTELLIGENCE</a:t>
            </a:r>
            <a:endParaRPr lang="en-US" sz="1300" dirty="0"/>
          </a:p>
        </p:txBody>
      </p:sp>
      <p:sp>
        <p:nvSpPr>
          <p:cNvPr id="23" name="Text 21"/>
          <p:cNvSpPr/>
          <p:nvPr/>
        </p:nvSpPr>
        <p:spPr>
          <a:xfrm>
            <a:off x="594360" y="2331720"/>
            <a:ext cx="7863840" cy="1737360"/>
          </a:xfrm>
          <a:prstGeom prst="rect">
            <a:avLst/>
          </a:prstGeom>
          <a:noFill/>
          <a:ln/>
        </p:spPr>
        <p:txBody>
          <a:bodyPr wrap="square"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Evolution of</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Artificial Intelligence</a:t>
            </a:r>
            <a:endParaRPr lang="en-US" sz="4400" dirty="0"/>
          </a:p>
        </p:txBody>
      </p:sp>
      <p:sp>
        <p:nvSpPr>
          <p:cNvPr id="24" name="Text 22"/>
          <p:cNvSpPr/>
          <p:nvPr/>
        </p:nvSpPr>
        <p:spPr>
          <a:xfrm>
            <a:off x="640080" y="3977640"/>
            <a:ext cx="7315200" cy="457200"/>
          </a:xfrm>
          <a:prstGeom prst="rect">
            <a:avLst/>
          </a:prstGeom>
          <a:noFill/>
          <a:ln/>
        </p:spPr>
        <p:txBody>
          <a:bodyPr wrap="square" rtlCol="0" anchor="ctr"/>
          <a:lstStyle/>
          <a:p>
            <a:pPr indent="0" marL="0">
              <a:buNone/>
            </a:pPr>
            <a:r>
              <a:rPr lang="en-US" sz="1700" i="1" dirty="0">
                <a:solidFill>
                  <a:srgbClr val="AEC6E3"/>
                </a:solidFill>
                <a:latin typeface="Calibri" pitchFamily="34" charset="0"/>
                <a:ea typeface="Calibri" pitchFamily="34" charset="-122"/>
                <a:cs typeface="Calibri" pitchFamily="34" charset="-120"/>
              </a:rPr>
              <a:t>From Early AI to the Future of Intelligent Systems</a:t>
            </a:r>
            <a:endParaRPr lang="en-US" sz="1700" dirty="0"/>
          </a:p>
        </p:txBody>
      </p:sp>
      <p:sp>
        <p:nvSpPr>
          <p:cNvPr id="25" name="Shape 23"/>
          <p:cNvSpPr/>
          <p:nvPr/>
        </p:nvSpPr>
        <p:spPr>
          <a:xfrm>
            <a:off x="640080" y="4617720"/>
            <a:ext cx="2926080" cy="0"/>
          </a:xfrm>
          <a:prstGeom prst="line">
            <a:avLst/>
          </a:prstGeom>
          <a:noFill/>
          <a:ln w="19050">
            <a:solidFill>
              <a:srgbClr val="1E5AA8"/>
            </a:solidFill>
            <a:prstDash val="solid"/>
          </a:ln>
        </p:spPr>
      </p:sp>
      <p:sp>
        <p:nvSpPr>
          <p:cNvPr id="26" name="Text 24"/>
          <p:cNvSpPr/>
          <p:nvPr/>
        </p:nvSpPr>
        <p:spPr>
          <a:xfrm>
            <a:off x="640080" y="4800600"/>
            <a:ext cx="6400800" cy="1463040"/>
          </a:xfrm>
          <a:prstGeom prst="rect">
            <a:avLst/>
          </a:prstGeom>
          <a:noFill/>
          <a:ln/>
        </p:spPr>
        <p:txBody>
          <a:bodyPr wrap="square" rtlCol="0" anchor="t"/>
          <a:lstStyle/>
          <a:p>
            <a:pPr indent="0" marL="0">
              <a:lnSpc>
                <a:spcPct val="135000"/>
              </a:lnSpc>
              <a:buNone/>
            </a:pPr>
            <a:r>
              <a:rPr lang="en-US" sz="1600" b="1" dirty="0">
                <a:solidFill>
                  <a:srgbClr val="FFFFFF"/>
                </a:solidFill>
                <a:latin typeface="Calibri" pitchFamily="34" charset="0"/>
                <a:ea typeface="Calibri" pitchFamily="34" charset="-122"/>
                <a:cs typeface="Calibri" pitchFamily="34" charset="-120"/>
              </a:rPr>
              <a:t>Tejas P</a:t>
            </a:r>
            <a:endParaRPr lang="en-US" sz="1600" dirty="0"/>
          </a:p>
          <a:p>
            <a:pPr indent="0" marL="0">
              <a:lnSpc>
                <a:spcPct val="135000"/>
              </a:lnSpc>
              <a:buNone/>
            </a:pPr>
            <a:r>
              <a:rPr lang="en-US" sz="1250" dirty="0">
                <a:solidFill>
                  <a:srgbClr val="AEC6E3"/>
                </a:solidFill>
                <a:latin typeface="Calibri" pitchFamily="34" charset="0"/>
                <a:ea typeface="Calibri" pitchFamily="34" charset="-122"/>
                <a:cs typeface="Calibri" pitchFamily="34" charset="-120"/>
              </a:rPr>
              <a:t>BCA — Bachelor of Computer Applications  |  Batch 2024–2027</a:t>
            </a:r>
            <a:endParaRPr lang="en-US" sz="1600" dirty="0"/>
          </a:p>
          <a:p>
            <a:pPr indent="0" marL="0">
              <a:lnSpc>
                <a:spcPct val="135000"/>
              </a:lnSpc>
              <a:buNone/>
            </a:pPr>
            <a:r>
              <a:rPr lang="en-US" sz="1250" dirty="0">
                <a:solidFill>
                  <a:srgbClr val="AEC6E3"/>
                </a:solidFill>
                <a:latin typeface="Calibri" pitchFamily="34" charset="0"/>
                <a:ea typeface="Calibri" pitchFamily="34" charset="-122"/>
                <a:cs typeface="Calibri" pitchFamily="34" charset="-120"/>
              </a:rPr>
              <a:t>Alliance University, Bengaluru</a:t>
            </a:r>
            <a:endParaRPr lang="en-US" sz="1600" dirty="0"/>
          </a:p>
          <a:p>
            <a:pPr indent="0" marL="0">
              <a:lnSpc>
                <a:spcPct val="135000"/>
              </a:lnSpc>
              <a:buNone/>
            </a:pPr>
            <a:r>
              <a:rPr lang="en-US" sz="1250" dirty="0">
                <a:solidFill>
                  <a:srgbClr val="AEC6E3"/>
                </a:solidFill>
                <a:latin typeface="Calibri" pitchFamily="34" charset="0"/>
                <a:ea typeface="Calibri" pitchFamily="34" charset="-122"/>
                <a:cs typeface="Calibri" pitchFamily="34" charset="-120"/>
              </a:rPr>
              <a:t>August 2026</a:t>
            </a:r>
            <a:endParaRPr lang="en-US" sz="1600" dirty="0"/>
          </a:p>
        </p:txBody>
      </p:sp>
      <p:sp>
        <p:nvSpPr>
          <p:cNvPr id="27" name="Shape 25"/>
          <p:cNvSpPr/>
          <p:nvPr/>
        </p:nvSpPr>
        <p:spPr>
          <a:xfrm>
            <a:off x="10424160" y="5349240"/>
            <a:ext cx="914400" cy="914400"/>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28" name="Image 0" descr="/home/claude/ai_deck/icons/brain-white.png">    </p:cNvPr>
          <p:cNvPicPr>
            <a:picLocks noChangeAspect="1"/>
          </p:cNvPicPr>
          <p:nvPr/>
        </p:nvPicPr>
        <p:blipFill>
          <a:blip r:embed="rId1"/>
          <a:stretch>
            <a:fillRect/>
          </a:stretch>
        </p:blipFill>
        <p:spPr>
          <a:xfrm>
            <a:off x="10652760" y="557784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Introduction to Artificial Intelligence</a:t>
            </a:r>
            <a:endParaRPr lang="en-US" sz="3000" dirty="0"/>
          </a:p>
        </p:txBody>
      </p:sp>
      <p:sp>
        <p:nvSpPr>
          <p:cNvPr id="4" name="Text 2"/>
          <p:cNvSpPr/>
          <p:nvPr/>
        </p:nvSpPr>
        <p:spPr>
          <a:xfrm>
            <a:off x="548640" y="1508760"/>
            <a:ext cx="6035040" cy="4480560"/>
          </a:xfrm>
          <a:prstGeom prst="rect">
            <a:avLst/>
          </a:prstGeom>
          <a:noFill/>
          <a:ln/>
        </p:spPr>
        <p:txBody>
          <a:bodyPr wrap="square" rtlCol="0" anchor="t"/>
          <a:lstStyle/>
          <a:p>
            <a:pPr indent="0" marL="0">
              <a:lnSpc>
                <a:spcPct val="115000"/>
              </a:lnSpc>
              <a:spcAft>
                <a:spcPts val="1000"/>
              </a:spcAft>
              <a:buNone/>
            </a:pPr>
            <a:r>
              <a:rPr lang="en-US" sz="1450" b="1" dirty="0">
                <a:solidFill>
                  <a:srgbClr val="0B2545"/>
                </a:solidFill>
                <a:latin typeface="Calibri" pitchFamily="34" charset="0"/>
                <a:ea typeface="Calibri" pitchFamily="34" charset="-122"/>
                <a:cs typeface="Calibri" pitchFamily="34" charset="-120"/>
              </a:rPr>
              <a:t>Definition</a:t>
            </a:r>
            <a:endParaRPr lang="en-US" sz="1400" dirty="0"/>
          </a:p>
          <a:p>
            <a:pPr indent="0" marL="0">
              <a:lnSpc>
                <a:spcPct val="115000"/>
              </a:lnSpc>
              <a:spcAft>
                <a:spcPts val="1400"/>
              </a:spcAft>
              <a:buNone/>
            </a:pPr>
            <a:r>
              <a:rPr lang="en-US" sz="1300" dirty="0">
                <a:solidFill>
                  <a:srgbClr val="5B6B7C"/>
                </a:solidFill>
                <a:latin typeface="Calibri" pitchFamily="34" charset="0"/>
                <a:ea typeface="Calibri" pitchFamily="34" charset="-122"/>
                <a:cs typeface="Calibri" pitchFamily="34" charset="-120"/>
              </a:rPr>
              <a:t>AI is the science of building machines that can think, learn, and make decisions like humans.</a:t>
            </a:r>
            <a:endParaRPr lang="en-US" sz="1400" dirty="0"/>
          </a:p>
          <a:p>
            <a:pPr indent="0" marL="0">
              <a:lnSpc>
                <a:spcPct val="115000"/>
              </a:lnSpc>
              <a:spcAft>
                <a:spcPts val="1000"/>
              </a:spcAft>
              <a:buNone/>
            </a:pPr>
            <a:r>
              <a:rPr lang="en-US" sz="1450" b="1" dirty="0">
                <a:solidFill>
                  <a:srgbClr val="0B2545"/>
                </a:solidFill>
                <a:latin typeface="Calibri" pitchFamily="34" charset="0"/>
                <a:ea typeface="Calibri" pitchFamily="34" charset="-122"/>
                <a:cs typeface="Calibri" pitchFamily="34" charset="-120"/>
              </a:rPr>
              <a:t>Brief History</a:t>
            </a:r>
            <a:endParaRPr lang="en-US" sz="1400" dirty="0"/>
          </a:p>
          <a:p>
            <a:pPr indent="0" marL="0">
              <a:lnSpc>
                <a:spcPct val="115000"/>
              </a:lnSpc>
              <a:spcAft>
                <a:spcPts val="1400"/>
              </a:spcAft>
              <a:buNone/>
            </a:pPr>
            <a:r>
              <a:rPr lang="en-US" sz="1300" dirty="0">
                <a:solidFill>
                  <a:srgbClr val="5B6B7C"/>
                </a:solidFill>
                <a:latin typeface="Calibri" pitchFamily="34" charset="0"/>
                <a:ea typeface="Calibri" pitchFamily="34" charset="-122"/>
                <a:cs typeface="Calibri" pitchFamily="34" charset="-120"/>
              </a:rPr>
              <a:t>The term “Artificial Intelligence” was coined in 1956 at the Dartmouth Conference, marking the birth of AI as a field.</a:t>
            </a:r>
            <a:endParaRPr lang="en-US" sz="1400" dirty="0"/>
          </a:p>
          <a:p>
            <a:pPr indent="0" marL="0">
              <a:lnSpc>
                <a:spcPct val="115000"/>
              </a:lnSpc>
              <a:spcAft>
                <a:spcPts val="1000"/>
              </a:spcAft>
              <a:buNone/>
            </a:pPr>
            <a:r>
              <a:rPr lang="en-US" sz="1450" b="1" dirty="0">
                <a:solidFill>
                  <a:srgbClr val="0B2545"/>
                </a:solidFill>
                <a:latin typeface="Calibri" pitchFamily="34" charset="0"/>
                <a:ea typeface="Calibri" pitchFamily="34" charset="-122"/>
                <a:cs typeface="Calibri" pitchFamily="34" charset="-120"/>
              </a:rPr>
              <a:t>Why AI Matters Today</a:t>
            </a:r>
            <a:endParaRPr lang="en-US" sz="1400" dirty="0"/>
          </a:p>
          <a:p>
            <a:pPr indent="0" marL="0">
              <a:lnSpc>
                <a:spcPct val="115000"/>
              </a:lnSpc>
              <a:spcAft>
                <a:spcPts val="1000"/>
              </a:spcAft>
              <a:buNone/>
            </a:pPr>
            <a:r>
              <a:rPr lang="en-US" sz="1300" dirty="0">
                <a:solidFill>
                  <a:srgbClr val="5B6B7C"/>
                </a:solidFill>
                <a:latin typeface="Calibri" pitchFamily="34" charset="0"/>
                <a:ea typeface="Calibri" pitchFamily="34" charset="-122"/>
                <a:cs typeface="Calibri" pitchFamily="34" charset="-120"/>
              </a:rPr>
              <a:t>AI boosts productivity, automates repetitive work, and powers smarter decisions across every industry.</a:t>
            </a:r>
            <a:endParaRPr lang="en-US" sz="1400" dirty="0"/>
          </a:p>
        </p:txBody>
      </p:sp>
      <p:sp>
        <p:nvSpPr>
          <p:cNvPr id="5" name="Shape 3"/>
          <p:cNvSpPr/>
          <p:nvPr/>
        </p:nvSpPr>
        <p:spPr>
          <a:xfrm>
            <a:off x="7040880" y="1508760"/>
            <a:ext cx="4572000" cy="4572000"/>
          </a:xfrm>
          <a:prstGeom prst="roundRect">
            <a:avLst>
              <a:gd name="adj" fmla="val 2400"/>
            </a:avLst>
          </a:prstGeom>
          <a:solidFill>
            <a:srgbClr val="E8F1FB"/>
          </a:solidFill>
          <a:ln/>
        </p:spPr>
      </p:sp>
      <p:sp>
        <p:nvSpPr>
          <p:cNvPr id="6" name="Text 4"/>
          <p:cNvSpPr/>
          <p:nvPr/>
        </p:nvSpPr>
        <p:spPr>
          <a:xfrm>
            <a:off x="7360920" y="1737360"/>
            <a:ext cx="3931920" cy="365760"/>
          </a:xfrm>
          <a:prstGeom prst="rect">
            <a:avLst/>
          </a:prstGeom>
          <a:noFill/>
          <a:ln/>
        </p:spPr>
        <p:txBody>
          <a:bodyPr wrap="square"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AI in Everyday Life</a:t>
            </a:r>
            <a:endParaRPr lang="en-US" sz="1600" dirty="0"/>
          </a:p>
        </p:txBody>
      </p:sp>
      <p:sp>
        <p:nvSpPr>
          <p:cNvPr id="7" name="Shape 5"/>
          <p:cNvSpPr/>
          <p:nvPr/>
        </p:nvSpPr>
        <p:spPr>
          <a:xfrm>
            <a:off x="7351776" y="2368296"/>
            <a:ext cx="566928" cy="56692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8" name="Image 0" descr="/home/claude/ai_deck/icons/map-white.png">    </p:cNvPr>
          <p:cNvPicPr>
            <a:picLocks noChangeAspect="1"/>
          </p:cNvPicPr>
          <p:nvPr/>
        </p:nvPicPr>
        <p:blipFill>
          <a:blip r:embed="rId1"/>
          <a:stretch>
            <a:fillRect/>
          </a:stretch>
        </p:blipFill>
        <p:spPr>
          <a:xfrm>
            <a:off x="7493508" y="2510028"/>
            <a:ext cx="283464" cy="283464"/>
          </a:xfrm>
          <a:prstGeom prst="rect">
            <a:avLst/>
          </a:prstGeom>
        </p:spPr>
      </p:pic>
      <p:sp>
        <p:nvSpPr>
          <p:cNvPr id="9" name="Text 6"/>
          <p:cNvSpPr/>
          <p:nvPr/>
        </p:nvSpPr>
        <p:spPr>
          <a:xfrm>
            <a:off x="8046720" y="2331720"/>
            <a:ext cx="3200400" cy="292608"/>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Google Maps</a:t>
            </a:r>
            <a:endParaRPr lang="en-US" sz="1350" dirty="0"/>
          </a:p>
        </p:txBody>
      </p:sp>
      <p:sp>
        <p:nvSpPr>
          <p:cNvPr id="10" name="Text 7"/>
          <p:cNvSpPr/>
          <p:nvPr/>
        </p:nvSpPr>
        <p:spPr>
          <a:xfrm>
            <a:off x="8046720" y="2633472"/>
            <a:ext cx="3200400" cy="32004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Predicts traffic &amp; fastest routes</a:t>
            </a:r>
            <a:endParaRPr lang="en-US" sz="1100" dirty="0"/>
          </a:p>
        </p:txBody>
      </p:sp>
      <p:sp>
        <p:nvSpPr>
          <p:cNvPr id="11" name="Shape 8"/>
          <p:cNvSpPr/>
          <p:nvPr/>
        </p:nvSpPr>
        <p:spPr>
          <a:xfrm>
            <a:off x="7351776" y="3282696"/>
            <a:ext cx="566928" cy="56692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2" name="Image 1" descr="/home/claude/ai_deck/icons/mic-white.png">    </p:cNvPr>
          <p:cNvPicPr>
            <a:picLocks noChangeAspect="1"/>
          </p:cNvPicPr>
          <p:nvPr/>
        </p:nvPicPr>
        <p:blipFill>
          <a:blip r:embed="rId2"/>
          <a:stretch>
            <a:fillRect/>
          </a:stretch>
        </p:blipFill>
        <p:spPr>
          <a:xfrm>
            <a:off x="7493508" y="3424428"/>
            <a:ext cx="283464" cy="283464"/>
          </a:xfrm>
          <a:prstGeom prst="rect">
            <a:avLst/>
          </a:prstGeom>
        </p:spPr>
      </p:pic>
      <p:sp>
        <p:nvSpPr>
          <p:cNvPr id="13" name="Text 9"/>
          <p:cNvSpPr/>
          <p:nvPr/>
        </p:nvSpPr>
        <p:spPr>
          <a:xfrm>
            <a:off x="8046720" y="3246120"/>
            <a:ext cx="3200400" cy="292608"/>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Siri / Alexa</a:t>
            </a:r>
            <a:endParaRPr lang="en-US" sz="1350" dirty="0"/>
          </a:p>
        </p:txBody>
      </p:sp>
      <p:sp>
        <p:nvSpPr>
          <p:cNvPr id="14" name="Text 10"/>
          <p:cNvSpPr/>
          <p:nvPr/>
        </p:nvSpPr>
        <p:spPr>
          <a:xfrm>
            <a:off x="8046720" y="3547872"/>
            <a:ext cx="3200400" cy="32004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Understands &amp; responds to voice</a:t>
            </a:r>
            <a:endParaRPr lang="en-US" sz="1100" dirty="0"/>
          </a:p>
        </p:txBody>
      </p:sp>
      <p:sp>
        <p:nvSpPr>
          <p:cNvPr id="15" name="Shape 11"/>
          <p:cNvSpPr/>
          <p:nvPr/>
        </p:nvSpPr>
        <p:spPr>
          <a:xfrm>
            <a:off x="7351776" y="4197096"/>
            <a:ext cx="566928" cy="56692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6" name="Image 2" descr="/home/claude/ai_deck/icons/film-white.png">    </p:cNvPr>
          <p:cNvPicPr>
            <a:picLocks noChangeAspect="1"/>
          </p:cNvPicPr>
          <p:nvPr/>
        </p:nvPicPr>
        <p:blipFill>
          <a:blip r:embed="rId3"/>
          <a:stretch>
            <a:fillRect/>
          </a:stretch>
        </p:blipFill>
        <p:spPr>
          <a:xfrm>
            <a:off x="7493508" y="4338828"/>
            <a:ext cx="283464" cy="283464"/>
          </a:xfrm>
          <a:prstGeom prst="rect">
            <a:avLst/>
          </a:prstGeom>
        </p:spPr>
      </p:pic>
      <p:sp>
        <p:nvSpPr>
          <p:cNvPr id="17" name="Text 12"/>
          <p:cNvSpPr/>
          <p:nvPr/>
        </p:nvSpPr>
        <p:spPr>
          <a:xfrm>
            <a:off x="8046720" y="4160520"/>
            <a:ext cx="3200400" cy="292608"/>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Netflix</a:t>
            </a:r>
            <a:endParaRPr lang="en-US" sz="1350" dirty="0"/>
          </a:p>
        </p:txBody>
      </p:sp>
      <p:sp>
        <p:nvSpPr>
          <p:cNvPr id="18" name="Text 13"/>
          <p:cNvSpPr/>
          <p:nvPr/>
        </p:nvSpPr>
        <p:spPr>
          <a:xfrm>
            <a:off x="8046720" y="4462272"/>
            <a:ext cx="3200400" cy="32004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Recommends shows you'll love</a:t>
            </a:r>
            <a:endParaRPr lang="en-US" sz="1100" dirty="0"/>
          </a:p>
        </p:txBody>
      </p:sp>
      <p:sp>
        <p:nvSpPr>
          <p:cNvPr id="19" name="Shape 14"/>
          <p:cNvSpPr/>
          <p:nvPr/>
        </p:nvSpPr>
        <p:spPr>
          <a:xfrm>
            <a:off x="7351776" y="5111496"/>
            <a:ext cx="566928" cy="56692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20" name="Image 3" descr="/home/claude/ai_deck/icons/comments-white.png">    </p:cNvPr>
          <p:cNvPicPr>
            <a:picLocks noChangeAspect="1"/>
          </p:cNvPicPr>
          <p:nvPr/>
        </p:nvPicPr>
        <p:blipFill>
          <a:blip r:embed="rId4"/>
          <a:stretch>
            <a:fillRect/>
          </a:stretch>
        </p:blipFill>
        <p:spPr>
          <a:xfrm>
            <a:off x="7493508" y="5253228"/>
            <a:ext cx="283464" cy="283464"/>
          </a:xfrm>
          <a:prstGeom prst="rect">
            <a:avLst/>
          </a:prstGeom>
        </p:spPr>
      </p:pic>
      <p:sp>
        <p:nvSpPr>
          <p:cNvPr id="21" name="Text 15"/>
          <p:cNvSpPr/>
          <p:nvPr/>
        </p:nvSpPr>
        <p:spPr>
          <a:xfrm>
            <a:off x="8046720" y="5074920"/>
            <a:ext cx="3200400" cy="292608"/>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ChatGPT</a:t>
            </a:r>
            <a:endParaRPr lang="en-US" sz="1350" dirty="0"/>
          </a:p>
        </p:txBody>
      </p:sp>
      <p:sp>
        <p:nvSpPr>
          <p:cNvPr id="22" name="Text 16"/>
          <p:cNvSpPr/>
          <p:nvPr/>
        </p:nvSpPr>
        <p:spPr>
          <a:xfrm>
            <a:off x="8046720" y="5376672"/>
            <a:ext cx="3200400" cy="32004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Answers questions, writes &amp; explains</a:t>
            </a:r>
            <a:endParaRPr lang="en-US" sz="1100" dirty="0"/>
          </a:p>
        </p:txBody>
      </p:sp>
      <p:sp>
        <p:nvSpPr>
          <p:cNvPr id="23" name="Text 17"/>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24" name="Text 18"/>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STAGE 01</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Early AI (1950s – 1980s)</a:t>
            </a:r>
            <a:endParaRPr lang="en-US" sz="3000" dirty="0"/>
          </a:p>
        </p:txBody>
      </p:sp>
      <p:sp>
        <p:nvSpPr>
          <p:cNvPr id="4" name="Text 2"/>
          <p:cNvSpPr/>
          <p:nvPr/>
        </p:nvSpPr>
        <p:spPr>
          <a:xfrm>
            <a:off x="548640" y="1508760"/>
            <a:ext cx="5486400" cy="4480560"/>
          </a:xfrm>
          <a:prstGeom prst="rect">
            <a:avLst/>
          </a:prstGeom>
          <a:noFill/>
          <a:ln/>
        </p:spPr>
        <p:txBody>
          <a:bodyPr wrap="square" rtlCol="0" anchor="t"/>
          <a:lstStyle/>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Rule-based systems that followed fixed, hand-coded logic — no learning from data.</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1950: Alan Turing proposes the Turing Test to judge machine intelligence.</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1956: Dartmouth Conference — the term “AI” is officially born.</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1960s–80s: Rise of Expert Systems (e.g., MYCIN for medical diagnosis).</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Advantage: Reliable for narrow, well-defined problems.</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Limitation: Could not learn, adapt, or handle uncertainty.</a:t>
            </a:r>
            <a:endParaRPr lang="en-US" sz="1330" dirty="0"/>
          </a:p>
        </p:txBody>
      </p:sp>
      <p:sp>
        <p:nvSpPr>
          <p:cNvPr id="5" name="Shape 3"/>
          <p:cNvSpPr/>
          <p:nvPr/>
        </p:nvSpPr>
        <p:spPr>
          <a:xfrm>
            <a:off x="8001000" y="1783080"/>
            <a:ext cx="0" cy="4114800"/>
          </a:xfrm>
          <a:prstGeom prst="line">
            <a:avLst/>
          </a:prstGeom>
          <a:noFill/>
          <a:ln w="38100">
            <a:solidFill>
              <a:srgbClr val="1E5AA8"/>
            </a:solidFill>
            <a:prstDash val="solid"/>
          </a:ln>
        </p:spPr>
      </p:sp>
      <p:sp>
        <p:nvSpPr>
          <p:cNvPr id="6" name="Shape 4"/>
          <p:cNvSpPr/>
          <p:nvPr/>
        </p:nvSpPr>
        <p:spPr>
          <a:xfrm>
            <a:off x="7918704" y="1700784"/>
            <a:ext cx="164592" cy="164592"/>
          </a:xfrm>
          <a:prstGeom prst="ellipse">
            <a:avLst/>
          </a:prstGeom>
          <a:solidFill>
            <a:srgbClr val="2F86EB"/>
          </a:solidFill>
          <a:ln w="19050">
            <a:solidFill>
              <a:srgbClr val="FFFFFF"/>
            </a:solidFill>
            <a:prstDash val="solid"/>
          </a:ln>
        </p:spPr>
      </p:sp>
      <p:sp>
        <p:nvSpPr>
          <p:cNvPr id="7" name="Text 5"/>
          <p:cNvSpPr/>
          <p:nvPr/>
        </p:nvSpPr>
        <p:spPr>
          <a:xfrm>
            <a:off x="6537960" y="1581912"/>
            <a:ext cx="1325880" cy="274320"/>
          </a:xfrm>
          <a:prstGeom prst="rect">
            <a:avLst/>
          </a:prstGeom>
          <a:noFill/>
          <a:ln/>
        </p:spPr>
        <p:txBody>
          <a:bodyPr wrap="square" rtlCol="0" anchor="ctr"/>
          <a:lstStyle/>
          <a:p>
            <a:pPr algn="r" indent="0" marL="0">
              <a:buNone/>
            </a:pPr>
            <a:r>
              <a:rPr lang="en-US" sz="1250" b="1" dirty="0">
                <a:solidFill>
                  <a:srgbClr val="0B2545"/>
                </a:solidFill>
                <a:latin typeface="Calibri" pitchFamily="34" charset="0"/>
                <a:ea typeface="Calibri" pitchFamily="34" charset="-122"/>
                <a:cs typeface="Calibri" pitchFamily="34" charset="-120"/>
              </a:rPr>
              <a:t>1950</a:t>
            </a:r>
            <a:endParaRPr lang="en-US" sz="1250" dirty="0"/>
          </a:p>
        </p:txBody>
      </p:sp>
      <p:sp>
        <p:nvSpPr>
          <p:cNvPr id="8" name="Text 6"/>
          <p:cNvSpPr/>
          <p:nvPr/>
        </p:nvSpPr>
        <p:spPr>
          <a:xfrm>
            <a:off x="8202168" y="1581912"/>
            <a:ext cx="4023360" cy="502920"/>
          </a:xfrm>
          <a:prstGeom prst="rect">
            <a:avLst/>
          </a:prstGeom>
          <a:noFill/>
          <a:ln/>
        </p:spPr>
        <p:txBody>
          <a:bodyPr wrap="square" rtlCol="0" anchor="t"/>
          <a:lstStyle/>
          <a:p>
            <a:pPr indent="0" marL="0">
              <a:buNone/>
            </a:pPr>
            <a:r>
              <a:rPr lang="en-US" sz="1150" dirty="0">
                <a:solidFill>
                  <a:srgbClr val="5B6B7C"/>
                </a:solidFill>
                <a:latin typeface="Calibri" pitchFamily="34" charset="0"/>
                <a:ea typeface="Calibri" pitchFamily="34" charset="-122"/>
                <a:cs typeface="Calibri" pitchFamily="34" charset="-120"/>
              </a:rPr>
              <a:t>Turing Test proposed</a:t>
            </a:r>
            <a:endParaRPr lang="en-US" sz="1150" dirty="0"/>
          </a:p>
        </p:txBody>
      </p:sp>
      <p:sp>
        <p:nvSpPr>
          <p:cNvPr id="9" name="Shape 7"/>
          <p:cNvSpPr/>
          <p:nvPr/>
        </p:nvSpPr>
        <p:spPr>
          <a:xfrm>
            <a:off x="7918704" y="2729484"/>
            <a:ext cx="164592" cy="164592"/>
          </a:xfrm>
          <a:prstGeom prst="ellipse">
            <a:avLst/>
          </a:prstGeom>
          <a:solidFill>
            <a:srgbClr val="2F86EB"/>
          </a:solidFill>
          <a:ln w="19050">
            <a:solidFill>
              <a:srgbClr val="FFFFFF"/>
            </a:solidFill>
            <a:prstDash val="solid"/>
          </a:ln>
        </p:spPr>
      </p:sp>
      <p:sp>
        <p:nvSpPr>
          <p:cNvPr id="10" name="Text 8"/>
          <p:cNvSpPr/>
          <p:nvPr/>
        </p:nvSpPr>
        <p:spPr>
          <a:xfrm>
            <a:off x="6537960" y="2610612"/>
            <a:ext cx="1325880" cy="274320"/>
          </a:xfrm>
          <a:prstGeom prst="rect">
            <a:avLst/>
          </a:prstGeom>
          <a:noFill/>
          <a:ln/>
        </p:spPr>
        <p:txBody>
          <a:bodyPr wrap="square" rtlCol="0" anchor="ctr"/>
          <a:lstStyle/>
          <a:p>
            <a:pPr algn="r" indent="0" marL="0">
              <a:buNone/>
            </a:pPr>
            <a:r>
              <a:rPr lang="en-US" sz="1250" b="1" dirty="0">
                <a:solidFill>
                  <a:srgbClr val="0B2545"/>
                </a:solidFill>
                <a:latin typeface="Calibri" pitchFamily="34" charset="0"/>
                <a:ea typeface="Calibri" pitchFamily="34" charset="-122"/>
                <a:cs typeface="Calibri" pitchFamily="34" charset="-120"/>
              </a:rPr>
              <a:t>1956</a:t>
            </a:r>
            <a:endParaRPr lang="en-US" sz="1250" dirty="0"/>
          </a:p>
        </p:txBody>
      </p:sp>
      <p:sp>
        <p:nvSpPr>
          <p:cNvPr id="11" name="Text 9"/>
          <p:cNvSpPr/>
          <p:nvPr/>
        </p:nvSpPr>
        <p:spPr>
          <a:xfrm>
            <a:off x="8202168" y="2610612"/>
            <a:ext cx="4023360" cy="502920"/>
          </a:xfrm>
          <a:prstGeom prst="rect">
            <a:avLst/>
          </a:prstGeom>
          <a:noFill/>
          <a:ln/>
        </p:spPr>
        <p:txBody>
          <a:bodyPr wrap="square" rtlCol="0" anchor="t"/>
          <a:lstStyle/>
          <a:p>
            <a:pPr indent="0" marL="0">
              <a:buNone/>
            </a:pPr>
            <a:r>
              <a:rPr lang="en-US" sz="1150" dirty="0">
                <a:solidFill>
                  <a:srgbClr val="5B6B7C"/>
                </a:solidFill>
                <a:latin typeface="Calibri" pitchFamily="34" charset="0"/>
                <a:ea typeface="Calibri" pitchFamily="34" charset="-122"/>
                <a:cs typeface="Calibri" pitchFamily="34" charset="-120"/>
              </a:rPr>
              <a:t>“AI” term coined at Dartmouth</a:t>
            </a:r>
            <a:endParaRPr lang="en-US" sz="1150" dirty="0"/>
          </a:p>
        </p:txBody>
      </p:sp>
      <p:sp>
        <p:nvSpPr>
          <p:cNvPr id="12" name="Shape 10"/>
          <p:cNvSpPr/>
          <p:nvPr/>
        </p:nvSpPr>
        <p:spPr>
          <a:xfrm>
            <a:off x="7918704" y="3758184"/>
            <a:ext cx="164592" cy="164592"/>
          </a:xfrm>
          <a:prstGeom prst="ellipse">
            <a:avLst/>
          </a:prstGeom>
          <a:solidFill>
            <a:srgbClr val="2F86EB"/>
          </a:solidFill>
          <a:ln w="19050">
            <a:solidFill>
              <a:srgbClr val="FFFFFF"/>
            </a:solidFill>
            <a:prstDash val="solid"/>
          </a:ln>
        </p:spPr>
      </p:sp>
      <p:sp>
        <p:nvSpPr>
          <p:cNvPr id="13" name="Text 11"/>
          <p:cNvSpPr/>
          <p:nvPr/>
        </p:nvSpPr>
        <p:spPr>
          <a:xfrm>
            <a:off x="6537960" y="3639312"/>
            <a:ext cx="1325880" cy="274320"/>
          </a:xfrm>
          <a:prstGeom prst="rect">
            <a:avLst/>
          </a:prstGeom>
          <a:noFill/>
          <a:ln/>
        </p:spPr>
        <p:txBody>
          <a:bodyPr wrap="square" rtlCol="0" anchor="ctr"/>
          <a:lstStyle/>
          <a:p>
            <a:pPr algn="r" indent="0" marL="0">
              <a:buNone/>
            </a:pPr>
            <a:r>
              <a:rPr lang="en-US" sz="1250" b="1" dirty="0">
                <a:solidFill>
                  <a:srgbClr val="0B2545"/>
                </a:solidFill>
                <a:latin typeface="Calibri" pitchFamily="34" charset="0"/>
                <a:ea typeface="Calibri" pitchFamily="34" charset="-122"/>
                <a:cs typeface="Calibri" pitchFamily="34" charset="-120"/>
              </a:rPr>
              <a:t>1966</a:t>
            </a:r>
            <a:endParaRPr lang="en-US" sz="1250" dirty="0"/>
          </a:p>
        </p:txBody>
      </p:sp>
      <p:sp>
        <p:nvSpPr>
          <p:cNvPr id="14" name="Text 12"/>
          <p:cNvSpPr/>
          <p:nvPr/>
        </p:nvSpPr>
        <p:spPr>
          <a:xfrm>
            <a:off x="8202168" y="3639312"/>
            <a:ext cx="4023360" cy="502920"/>
          </a:xfrm>
          <a:prstGeom prst="rect">
            <a:avLst/>
          </a:prstGeom>
          <a:noFill/>
          <a:ln/>
        </p:spPr>
        <p:txBody>
          <a:bodyPr wrap="square" rtlCol="0" anchor="t"/>
          <a:lstStyle/>
          <a:p>
            <a:pPr indent="0" marL="0">
              <a:buNone/>
            </a:pPr>
            <a:r>
              <a:rPr lang="en-US" sz="1150" dirty="0">
                <a:solidFill>
                  <a:srgbClr val="5B6B7C"/>
                </a:solidFill>
                <a:latin typeface="Calibri" pitchFamily="34" charset="0"/>
                <a:ea typeface="Calibri" pitchFamily="34" charset="-122"/>
                <a:cs typeface="Calibri" pitchFamily="34" charset="-120"/>
              </a:rPr>
              <a:t>ELIZA — first chatbot</a:t>
            </a:r>
            <a:endParaRPr lang="en-US" sz="1150" dirty="0"/>
          </a:p>
        </p:txBody>
      </p:sp>
      <p:sp>
        <p:nvSpPr>
          <p:cNvPr id="15" name="Shape 13"/>
          <p:cNvSpPr/>
          <p:nvPr/>
        </p:nvSpPr>
        <p:spPr>
          <a:xfrm>
            <a:off x="7918704" y="4786884"/>
            <a:ext cx="164592" cy="164592"/>
          </a:xfrm>
          <a:prstGeom prst="ellipse">
            <a:avLst/>
          </a:prstGeom>
          <a:solidFill>
            <a:srgbClr val="2F86EB"/>
          </a:solidFill>
          <a:ln w="19050">
            <a:solidFill>
              <a:srgbClr val="FFFFFF"/>
            </a:solidFill>
            <a:prstDash val="solid"/>
          </a:ln>
        </p:spPr>
      </p:sp>
      <p:sp>
        <p:nvSpPr>
          <p:cNvPr id="16" name="Text 14"/>
          <p:cNvSpPr/>
          <p:nvPr/>
        </p:nvSpPr>
        <p:spPr>
          <a:xfrm>
            <a:off x="6537960" y="4668012"/>
            <a:ext cx="1325880" cy="274320"/>
          </a:xfrm>
          <a:prstGeom prst="rect">
            <a:avLst/>
          </a:prstGeom>
          <a:noFill/>
          <a:ln/>
        </p:spPr>
        <p:txBody>
          <a:bodyPr wrap="square" rtlCol="0" anchor="ctr"/>
          <a:lstStyle/>
          <a:p>
            <a:pPr algn="r" indent="0" marL="0">
              <a:buNone/>
            </a:pPr>
            <a:r>
              <a:rPr lang="en-US" sz="1250" b="1" dirty="0">
                <a:solidFill>
                  <a:srgbClr val="0B2545"/>
                </a:solidFill>
                <a:latin typeface="Calibri" pitchFamily="34" charset="0"/>
                <a:ea typeface="Calibri" pitchFamily="34" charset="-122"/>
                <a:cs typeface="Calibri" pitchFamily="34" charset="-120"/>
              </a:rPr>
              <a:t>1980</a:t>
            </a:r>
            <a:endParaRPr lang="en-US" sz="1250" dirty="0"/>
          </a:p>
        </p:txBody>
      </p:sp>
      <p:sp>
        <p:nvSpPr>
          <p:cNvPr id="17" name="Text 15"/>
          <p:cNvSpPr/>
          <p:nvPr/>
        </p:nvSpPr>
        <p:spPr>
          <a:xfrm>
            <a:off x="8202168" y="4668012"/>
            <a:ext cx="4023360" cy="502920"/>
          </a:xfrm>
          <a:prstGeom prst="rect">
            <a:avLst/>
          </a:prstGeom>
          <a:noFill/>
          <a:ln/>
        </p:spPr>
        <p:txBody>
          <a:bodyPr wrap="square" rtlCol="0" anchor="t"/>
          <a:lstStyle/>
          <a:p>
            <a:pPr indent="0" marL="0">
              <a:buNone/>
            </a:pPr>
            <a:r>
              <a:rPr lang="en-US" sz="1150" dirty="0">
                <a:solidFill>
                  <a:srgbClr val="5B6B7C"/>
                </a:solidFill>
                <a:latin typeface="Calibri" pitchFamily="34" charset="0"/>
                <a:ea typeface="Calibri" pitchFamily="34" charset="-122"/>
                <a:cs typeface="Calibri" pitchFamily="34" charset="-120"/>
              </a:rPr>
              <a:t>Expert systems rise (MYCIN)</a:t>
            </a:r>
            <a:endParaRPr lang="en-US" sz="1150" dirty="0"/>
          </a:p>
        </p:txBody>
      </p:sp>
      <p:sp>
        <p:nvSpPr>
          <p:cNvPr id="18" name="Shape 16"/>
          <p:cNvSpPr/>
          <p:nvPr/>
        </p:nvSpPr>
        <p:spPr>
          <a:xfrm>
            <a:off x="7918704" y="5815584"/>
            <a:ext cx="164592" cy="164592"/>
          </a:xfrm>
          <a:prstGeom prst="ellipse">
            <a:avLst/>
          </a:prstGeom>
          <a:solidFill>
            <a:srgbClr val="2F86EB"/>
          </a:solidFill>
          <a:ln w="19050">
            <a:solidFill>
              <a:srgbClr val="FFFFFF"/>
            </a:solidFill>
            <a:prstDash val="solid"/>
          </a:ln>
        </p:spPr>
      </p:sp>
      <p:sp>
        <p:nvSpPr>
          <p:cNvPr id="19" name="Text 17"/>
          <p:cNvSpPr/>
          <p:nvPr/>
        </p:nvSpPr>
        <p:spPr>
          <a:xfrm>
            <a:off x="6537960" y="5696712"/>
            <a:ext cx="1325880" cy="274320"/>
          </a:xfrm>
          <a:prstGeom prst="rect">
            <a:avLst/>
          </a:prstGeom>
          <a:noFill/>
          <a:ln/>
        </p:spPr>
        <p:txBody>
          <a:bodyPr wrap="square" rtlCol="0" anchor="ctr"/>
          <a:lstStyle/>
          <a:p>
            <a:pPr algn="r" indent="0" marL="0">
              <a:buNone/>
            </a:pPr>
            <a:r>
              <a:rPr lang="en-US" sz="1250" b="1" dirty="0">
                <a:solidFill>
                  <a:srgbClr val="0B2545"/>
                </a:solidFill>
                <a:latin typeface="Calibri" pitchFamily="34" charset="0"/>
                <a:ea typeface="Calibri" pitchFamily="34" charset="-122"/>
                <a:cs typeface="Calibri" pitchFamily="34" charset="-120"/>
              </a:rPr>
              <a:t>1987</a:t>
            </a:r>
            <a:endParaRPr lang="en-US" sz="1250" dirty="0"/>
          </a:p>
        </p:txBody>
      </p:sp>
      <p:sp>
        <p:nvSpPr>
          <p:cNvPr id="20" name="Text 18"/>
          <p:cNvSpPr/>
          <p:nvPr/>
        </p:nvSpPr>
        <p:spPr>
          <a:xfrm>
            <a:off x="8202168" y="5696712"/>
            <a:ext cx="4023360" cy="502920"/>
          </a:xfrm>
          <a:prstGeom prst="rect">
            <a:avLst/>
          </a:prstGeom>
          <a:noFill/>
          <a:ln/>
        </p:spPr>
        <p:txBody>
          <a:bodyPr wrap="square" rtlCol="0" anchor="t"/>
          <a:lstStyle/>
          <a:p>
            <a:pPr indent="0" marL="0">
              <a:buNone/>
            </a:pPr>
            <a:r>
              <a:rPr lang="en-US" sz="1150" dirty="0">
                <a:solidFill>
                  <a:srgbClr val="5B6B7C"/>
                </a:solidFill>
                <a:latin typeface="Calibri" pitchFamily="34" charset="0"/>
                <a:ea typeface="Calibri" pitchFamily="34" charset="-122"/>
                <a:cs typeface="Calibri" pitchFamily="34" charset="-120"/>
              </a:rPr>
              <a:t>“AI Winter” — funding declines</a:t>
            </a:r>
            <a:endParaRPr lang="en-US" sz="1150" dirty="0"/>
          </a:p>
        </p:txBody>
      </p:sp>
      <p:sp>
        <p:nvSpPr>
          <p:cNvPr id="21" name="Text 19"/>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22" name="Text 20"/>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STAGE 02</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Machine Learning</a:t>
            </a:r>
            <a:endParaRPr lang="en-US" sz="3000" dirty="0"/>
          </a:p>
        </p:txBody>
      </p:sp>
      <p:sp>
        <p:nvSpPr>
          <p:cNvPr id="4" name="Text 2"/>
          <p:cNvSpPr/>
          <p:nvPr/>
        </p:nvSpPr>
        <p:spPr>
          <a:xfrm>
            <a:off x="548640" y="1508760"/>
            <a:ext cx="5577840" cy="4206240"/>
          </a:xfrm>
          <a:prstGeom prst="rect">
            <a:avLst/>
          </a:prstGeom>
          <a:noFill/>
          <a:ln/>
        </p:spPr>
        <p:txBody>
          <a:bodyPr wrap="square" rtlCol="0" anchor="t"/>
          <a:lstStyle/>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ML lets machines learn patterns from data instead of following fixed rules.</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Three main types: Supervised, Unsupervised &amp; Reinforcement Learning.</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Real-life examples: Spam detection, Netflix recommendations, Fraud detection.</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Advantage: Improves automatically as more data becomes available.</a:t>
            </a:r>
            <a:endParaRPr lang="en-US" sz="1330" dirty="0"/>
          </a:p>
          <a:p>
            <a:pPr marL="177800" indent="-177800">
              <a:lnSpc>
                <a:spcPct val="115000"/>
              </a:lnSpc>
              <a:spcAft>
                <a:spcPts val="1000"/>
              </a:spcAft>
              <a:buSzPct val="100000"/>
              <a:buChar char="▪"/>
            </a:pPr>
            <a:r>
              <a:rPr lang="en-US" sz="1330" dirty="0">
                <a:solidFill>
                  <a:srgbClr val="0B2545"/>
                </a:solidFill>
                <a:latin typeface="Calibri" pitchFamily="34" charset="0"/>
                <a:ea typeface="Calibri" pitchFamily="34" charset="-122"/>
                <a:cs typeface="Calibri" pitchFamily="34" charset="-120"/>
              </a:rPr>
              <a:t>Challenge: Needs large, high-quality datasets and can inherit bias.</a:t>
            </a:r>
            <a:endParaRPr lang="en-US" sz="1330" dirty="0"/>
          </a:p>
        </p:txBody>
      </p:sp>
      <p:sp>
        <p:nvSpPr>
          <p:cNvPr id="5" name="Shape 3"/>
          <p:cNvSpPr/>
          <p:nvPr/>
        </p:nvSpPr>
        <p:spPr>
          <a:xfrm>
            <a:off x="448056" y="4745736"/>
            <a:ext cx="658368" cy="65836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6" name="Image 0" descr="/home/claude/ai_deck/icons/database-white.png">    </p:cNvPr>
          <p:cNvPicPr>
            <a:picLocks noChangeAspect="1"/>
          </p:cNvPicPr>
          <p:nvPr/>
        </p:nvPicPr>
        <p:blipFill>
          <a:blip r:embed="rId1"/>
          <a:stretch>
            <a:fillRect/>
          </a:stretch>
        </p:blipFill>
        <p:spPr>
          <a:xfrm>
            <a:off x="612648" y="4910328"/>
            <a:ext cx="329184" cy="329184"/>
          </a:xfrm>
          <a:prstGeom prst="rect">
            <a:avLst/>
          </a:prstGeom>
        </p:spPr>
      </p:pic>
      <p:sp>
        <p:nvSpPr>
          <p:cNvPr id="7" name="Text 4"/>
          <p:cNvSpPr/>
          <p:nvPr/>
        </p:nvSpPr>
        <p:spPr>
          <a:xfrm>
            <a:off x="228600" y="5486400"/>
            <a:ext cx="1097280" cy="2743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Data</a:t>
            </a:r>
            <a:endParaRPr lang="en-US" sz="1100" dirty="0"/>
          </a:p>
        </p:txBody>
      </p:sp>
      <p:pic>
        <p:nvPicPr>
          <p:cNvPr id="8" name="Image 1" descr="/home/claude/ai_deck/icons/arrow-right-blue.png">    </p:cNvPr>
          <p:cNvPicPr>
            <a:picLocks noChangeAspect="1"/>
          </p:cNvPicPr>
          <p:nvPr/>
        </p:nvPicPr>
        <p:blipFill>
          <a:blip r:embed="rId2"/>
          <a:stretch>
            <a:fillRect/>
          </a:stretch>
        </p:blipFill>
        <p:spPr>
          <a:xfrm>
            <a:off x="1161288" y="4946904"/>
            <a:ext cx="256032" cy="256032"/>
          </a:xfrm>
          <a:prstGeom prst="rect">
            <a:avLst/>
          </a:prstGeom>
        </p:spPr>
      </p:pic>
      <p:sp>
        <p:nvSpPr>
          <p:cNvPr id="9" name="Shape 5"/>
          <p:cNvSpPr/>
          <p:nvPr/>
        </p:nvSpPr>
        <p:spPr>
          <a:xfrm>
            <a:off x="1682496" y="4745736"/>
            <a:ext cx="658368" cy="65836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0" name="Image 2" descr="/home/claude/ai_deck/icons/cogs-white.png">    </p:cNvPr>
          <p:cNvPicPr>
            <a:picLocks noChangeAspect="1"/>
          </p:cNvPicPr>
          <p:nvPr/>
        </p:nvPicPr>
        <p:blipFill>
          <a:blip r:embed="rId3"/>
          <a:stretch>
            <a:fillRect/>
          </a:stretch>
        </p:blipFill>
        <p:spPr>
          <a:xfrm>
            <a:off x="1847088" y="4910328"/>
            <a:ext cx="329184" cy="329184"/>
          </a:xfrm>
          <a:prstGeom prst="rect">
            <a:avLst/>
          </a:prstGeom>
        </p:spPr>
      </p:pic>
      <p:sp>
        <p:nvSpPr>
          <p:cNvPr id="11" name="Text 6"/>
          <p:cNvSpPr/>
          <p:nvPr/>
        </p:nvSpPr>
        <p:spPr>
          <a:xfrm>
            <a:off x="1463040" y="5486400"/>
            <a:ext cx="1097280" cy="2743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Train</a:t>
            </a:r>
            <a:endParaRPr lang="en-US" sz="1100" dirty="0"/>
          </a:p>
        </p:txBody>
      </p:sp>
      <p:pic>
        <p:nvPicPr>
          <p:cNvPr id="12" name="Image 3" descr="/home/claude/ai_deck/icons/arrow-right-blue.png">    </p:cNvPr>
          <p:cNvPicPr>
            <a:picLocks noChangeAspect="1"/>
          </p:cNvPicPr>
          <p:nvPr/>
        </p:nvPicPr>
        <p:blipFill>
          <a:blip r:embed="rId4"/>
          <a:stretch>
            <a:fillRect/>
          </a:stretch>
        </p:blipFill>
        <p:spPr>
          <a:xfrm>
            <a:off x="2395728" y="4946904"/>
            <a:ext cx="256032" cy="256032"/>
          </a:xfrm>
          <a:prstGeom prst="rect">
            <a:avLst/>
          </a:prstGeom>
        </p:spPr>
      </p:pic>
      <p:sp>
        <p:nvSpPr>
          <p:cNvPr id="13" name="Shape 7"/>
          <p:cNvSpPr/>
          <p:nvPr/>
        </p:nvSpPr>
        <p:spPr>
          <a:xfrm>
            <a:off x="2916936" y="4745736"/>
            <a:ext cx="658368" cy="658368"/>
          </a:xfrm>
          <a:prstGeom prst="ellipse">
            <a:avLst/>
          </a:prstGeom>
          <a:solidFill>
            <a:srgbClr val="2F86EB"/>
          </a:solidFill>
          <a:ln/>
          <a:effectLst>
            <a:outerShdw sx="100000" sy="100000" kx="0" ky="0" algn="bl" rotWithShape="0" blurRad="76200" dist="25400" dir="5400000">
              <a:srgbClr val="1B2A41">
                <a:alpha val="25000"/>
              </a:srgbClr>
            </a:outerShdw>
          </a:effectLst>
        </p:spPr>
      </p:sp>
      <p:pic>
        <p:nvPicPr>
          <p:cNvPr id="14" name="Image 4" descr="/home/claude/ai_deck/icons/brain-white.png">    </p:cNvPr>
          <p:cNvPicPr>
            <a:picLocks noChangeAspect="1"/>
          </p:cNvPicPr>
          <p:nvPr/>
        </p:nvPicPr>
        <p:blipFill>
          <a:blip r:embed="rId5"/>
          <a:stretch>
            <a:fillRect/>
          </a:stretch>
        </p:blipFill>
        <p:spPr>
          <a:xfrm>
            <a:off x="3081528" y="4910328"/>
            <a:ext cx="329184" cy="329184"/>
          </a:xfrm>
          <a:prstGeom prst="rect">
            <a:avLst/>
          </a:prstGeom>
        </p:spPr>
      </p:pic>
      <p:sp>
        <p:nvSpPr>
          <p:cNvPr id="15" name="Text 8"/>
          <p:cNvSpPr/>
          <p:nvPr/>
        </p:nvSpPr>
        <p:spPr>
          <a:xfrm>
            <a:off x="2697480" y="5486400"/>
            <a:ext cx="1097280" cy="2743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Model</a:t>
            </a:r>
            <a:endParaRPr lang="en-US" sz="1100" dirty="0"/>
          </a:p>
        </p:txBody>
      </p:sp>
      <p:pic>
        <p:nvPicPr>
          <p:cNvPr id="16" name="Image 5" descr="/home/claude/ai_deck/icons/arrow-right-blue.png">    </p:cNvPr>
          <p:cNvPicPr>
            <a:picLocks noChangeAspect="1"/>
          </p:cNvPicPr>
          <p:nvPr/>
        </p:nvPicPr>
        <p:blipFill>
          <a:blip r:embed="rId6"/>
          <a:stretch>
            <a:fillRect/>
          </a:stretch>
        </p:blipFill>
        <p:spPr>
          <a:xfrm>
            <a:off x="3630168" y="4946904"/>
            <a:ext cx="256032" cy="256032"/>
          </a:xfrm>
          <a:prstGeom prst="rect">
            <a:avLst/>
          </a:prstGeom>
        </p:spPr>
      </p:pic>
      <p:sp>
        <p:nvSpPr>
          <p:cNvPr id="17" name="Shape 9"/>
          <p:cNvSpPr/>
          <p:nvPr/>
        </p:nvSpPr>
        <p:spPr>
          <a:xfrm>
            <a:off x="4151376" y="4745736"/>
            <a:ext cx="658368" cy="658368"/>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8" name="Image 6" descr="/home/claude/ai_deck/icons/chartline-white.png">    </p:cNvPr>
          <p:cNvPicPr>
            <a:picLocks noChangeAspect="1"/>
          </p:cNvPicPr>
          <p:nvPr/>
        </p:nvPicPr>
        <p:blipFill>
          <a:blip r:embed="rId7"/>
          <a:stretch>
            <a:fillRect/>
          </a:stretch>
        </p:blipFill>
        <p:spPr>
          <a:xfrm>
            <a:off x="4315968" y="4910328"/>
            <a:ext cx="329184" cy="329184"/>
          </a:xfrm>
          <a:prstGeom prst="rect">
            <a:avLst/>
          </a:prstGeom>
        </p:spPr>
      </p:pic>
      <p:sp>
        <p:nvSpPr>
          <p:cNvPr id="19" name="Text 10"/>
          <p:cNvSpPr/>
          <p:nvPr/>
        </p:nvSpPr>
        <p:spPr>
          <a:xfrm>
            <a:off x="3931920" y="5486400"/>
            <a:ext cx="1097280" cy="2743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Predict</a:t>
            </a:r>
            <a:endParaRPr lang="en-US" sz="1100" dirty="0"/>
          </a:p>
        </p:txBody>
      </p:sp>
      <p:sp>
        <p:nvSpPr>
          <p:cNvPr id="20" name="Shape 11"/>
          <p:cNvSpPr/>
          <p:nvPr/>
        </p:nvSpPr>
        <p:spPr>
          <a:xfrm>
            <a:off x="7452360" y="1508760"/>
            <a:ext cx="4160520" cy="3246120"/>
          </a:xfrm>
          <a:prstGeom prst="roundRect">
            <a:avLst>
              <a:gd name="adj" fmla="val 3380"/>
            </a:avLst>
          </a:prstGeom>
          <a:solidFill>
            <a:srgbClr val="E8F1FB"/>
          </a:solidFill>
          <a:ln/>
        </p:spPr>
      </p:sp>
      <p:sp>
        <p:nvSpPr>
          <p:cNvPr id="21" name="Text 12"/>
          <p:cNvSpPr/>
          <p:nvPr/>
        </p:nvSpPr>
        <p:spPr>
          <a:xfrm>
            <a:off x="7726680" y="1719072"/>
            <a:ext cx="3611880" cy="32004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Types of Machine Learning</a:t>
            </a:r>
            <a:endParaRPr lang="en-US" sz="1500" dirty="0"/>
          </a:p>
        </p:txBody>
      </p:sp>
      <p:sp>
        <p:nvSpPr>
          <p:cNvPr id="22" name="Shape 13"/>
          <p:cNvSpPr/>
          <p:nvPr/>
        </p:nvSpPr>
        <p:spPr>
          <a:xfrm>
            <a:off x="7726680" y="2286000"/>
            <a:ext cx="128016" cy="128016"/>
          </a:xfrm>
          <a:prstGeom prst="ellipse">
            <a:avLst/>
          </a:prstGeom>
          <a:solidFill>
            <a:srgbClr val="2F86EB"/>
          </a:solidFill>
          <a:ln/>
        </p:spPr>
      </p:sp>
      <p:sp>
        <p:nvSpPr>
          <p:cNvPr id="23" name="Text 14"/>
          <p:cNvSpPr/>
          <p:nvPr/>
        </p:nvSpPr>
        <p:spPr>
          <a:xfrm>
            <a:off x="7982712" y="2167128"/>
            <a:ext cx="3337560" cy="27432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Supervised</a:t>
            </a:r>
            <a:endParaRPr lang="en-US" sz="1300" dirty="0"/>
          </a:p>
        </p:txBody>
      </p:sp>
      <p:sp>
        <p:nvSpPr>
          <p:cNvPr id="24" name="Text 15"/>
          <p:cNvSpPr/>
          <p:nvPr/>
        </p:nvSpPr>
        <p:spPr>
          <a:xfrm>
            <a:off x="7982712" y="2459736"/>
            <a:ext cx="3337560" cy="45720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Learns from labeled data (e.g., spam vs. not spam)</a:t>
            </a:r>
            <a:endParaRPr lang="en-US" sz="1100" dirty="0"/>
          </a:p>
        </p:txBody>
      </p:sp>
      <p:sp>
        <p:nvSpPr>
          <p:cNvPr id="25" name="Shape 16"/>
          <p:cNvSpPr/>
          <p:nvPr/>
        </p:nvSpPr>
        <p:spPr>
          <a:xfrm>
            <a:off x="7726680" y="3154680"/>
            <a:ext cx="128016" cy="128016"/>
          </a:xfrm>
          <a:prstGeom prst="ellipse">
            <a:avLst/>
          </a:prstGeom>
          <a:solidFill>
            <a:srgbClr val="2F86EB"/>
          </a:solidFill>
          <a:ln/>
        </p:spPr>
      </p:sp>
      <p:sp>
        <p:nvSpPr>
          <p:cNvPr id="26" name="Text 17"/>
          <p:cNvSpPr/>
          <p:nvPr/>
        </p:nvSpPr>
        <p:spPr>
          <a:xfrm>
            <a:off x="7982712" y="3035808"/>
            <a:ext cx="3337560" cy="27432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Unsupervised</a:t>
            </a:r>
            <a:endParaRPr lang="en-US" sz="1300" dirty="0"/>
          </a:p>
        </p:txBody>
      </p:sp>
      <p:sp>
        <p:nvSpPr>
          <p:cNvPr id="27" name="Text 18"/>
          <p:cNvSpPr/>
          <p:nvPr/>
        </p:nvSpPr>
        <p:spPr>
          <a:xfrm>
            <a:off x="7982712" y="3328416"/>
            <a:ext cx="3337560" cy="45720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Finds hidden patterns in unlabeled data</a:t>
            </a:r>
            <a:endParaRPr lang="en-US" sz="1100" dirty="0"/>
          </a:p>
        </p:txBody>
      </p:sp>
      <p:sp>
        <p:nvSpPr>
          <p:cNvPr id="28" name="Shape 19"/>
          <p:cNvSpPr/>
          <p:nvPr/>
        </p:nvSpPr>
        <p:spPr>
          <a:xfrm>
            <a:off x="7726680" y="4023360"/>
            <a:ext cx="128016" cy="128016"/>
          </a:xfrm>
          <a:prstGeom prst="ellipse">
            <a:avLst/>
          </a:prstGeom>
          <a:solidFill>
            <a:srgbClr val="2F86EB"/>
          </a:solidFill>
          <a:ln/>
        </p:spPr>
      </p:sp>
      <p:sp>
        <p:nvSpPr>
          <p:cNvPr id="29" name="Text 20"/>
          <p:cNvSpPr/>
          <p:nvPr/>
        </p:nvSpPr>
        <p:spPr>
          <a:xfrm>
            <a:off x="7982712" y="3904488"/>
            <a:ext cx="3337560" cy="27432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Reinforcement</a:t>
            </a:r>
            <a:endParaRPr lang="en-US" sz="1300" dirty="0"/>
          </a:p>
        </p:txBody>
      </p:sp>
      <p:sp>
        <p:nvSpPr>
          <p:cNvPr id="30" name="Text 21"/>
          <p:cNvSpPr/>
          <p:nvPr/>
        </p:nvSpPr>
        <p:spPr>
          <a:xfrm>
            <a:off x="7982712" y="4197096"/>
            <a:ext cx="3337560" cy="457200"/>
          </a:xfrm>
          <a:prstGeom prst="rect">
            <a:avLst/>
          </a:prstGeom>
          <a:noFill/>
          <a:ln/>
        </p:spPr>
        <p:txBody>
          <a:bodyPr wrap="square" rtlCol="0" anchor="ctr"/>
          <a:lstStyle/>
          <a:p>
            <a:pPr indent="0" marL="0">
              <a:buNone/>
            </a:pPr>
            <a:r>
              <a:rPr lang="en-US" sz="1100" dirty="0">
                <a:solidFill>
                  <a:srgbClr val="5B6B7C"/>
                </a:solidFill>
                <a:latin typeface="Calibri" pitchFamily="34" charset="0"/>
                <a:ea typeface="Calibri" pitchFamily="34" charset="-122"/>
                <a:cs typeface="Calibri" pitchFamily="34" charset="-120"/>
              </a:rPr>
              <a:t>Learns via trial, error &amp; rewards</a:t>
            </a:r>
            <a:endParaRPr lang="en-US" sz="1100" dirty="0"/>
          </a:p>
        </p:txBody>
      </p:sp>
      <p:sp>
        <p:nvSpPr>
          <p:cNvPr id="31" name="Text 22"/>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32" name="Text 2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STAGE 03</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Deep Learning</a:t>
            </a:r>
            <a:endParaRPr lang="en-US" sz="3000" dirty="0"/>
          </a:p>
        </p:txBody>
      </p:sp>
      <p:sp>
        <p:nvSpPr>
          <p:cNvPr id="4" name="Text 2"/>
          <p:cNvSpPr/>
          <p:nvPr/>
        </p:nvSpPr>
        <p:spPr>
          <a:xfrm>
            <a:off x="548640" y="1508760"/>
            <a:ext cx="5486400" cy="4572000"/>
          </a:xfrm>
          <a:prstGeom prst="rect">
            <a:avLst/>
          </a:prstGeom>
          <a:noFill/>
          <a:ln/>
        </p:spPr>
        <p:txBody>
          <a:bodyPr wrap="square" rtlCol="0" anchor="t"/>
          <a:lstStyle/>
          <a:p>
            <a:pPr marL="177800" indent="-177800">
              <a:lnSpc>
                <a:spcPct val="115000"/>
              </a:lnSpc>
              <a:spcAft>
                <a:spcPts val="1000"/>
              </a:spcAft>
              <a:buSzPct val="100000"/>
              <a:buChar char="▪"/>
            </a:pPr>
            <a:r>
              <a:rPr lang="en-US" sz="1280" dirty="0">
                <a:solidFill>
                  <a:srgbClr val="0B2545"/>
                </a:solidFill>
                <a:latin typeface="Calibri" pitchFamily="34" charset="0"/>
                <a:ea typeface="Calibri" pitchFamily="34" charset="-122"/>
                <a:cs typeface="Calibri" pitchFamily="34" charset="-120"/>
              </a:rPr>
              <a:t>A subset of ML using multi-layered artificial neural networks.</a:t>
            </a:r>
            <a:endParaRPr lang="en-US" sz="1280" dirty="0"/>
          </a:p>
          <a:p>
            <a:pPr marL="177800" indent="-177800">
              <a:lnSpc>
                <a:spcPct val="115000"/>
              </a:lnSpc>
              <a:spcAft>
                <a:spcPts val="1000"/>
              </a:spcAft>
              <a:buSzPct val="100000"/>
              <a:buChar char="▪"/>
            </a:pPr>
            <a:r>
              <a:rPr lang="en-US" sz="1280" dirty="0">
                <a:solidFill>
                  <a:srgbClr val="0B2545"/>
                </a:solidFill>
                <a:latin typeface="Calibri" pitchFamily="34" charset="0"/>
                <a:ea typeface="Calibri" pitchFamily="34" charset="-122"/>
                <a:cs typeface="Calibri" pitchFamily="34" charset="-120"/>
              </a:rPr>
              <a:t>Inspired by how neurons connect and fire in the human brain.</a:t>
            </a:r>
            <a:endParaRPr lang="en-US" sz="1280" dirty="0"/>
          </a:p>
          <a:p>
            <a:pPr marL="177800" indent="-177800">
              <a:lnSpc>
                <a:spcPct val="115000"/>
              </a:lnSpc>
              <a:spcAft>
                <a:spcPts val="1000"/>
              </a:spcAft>
              <a:buSzPct val="100000"/>
              <a:buChar char="▪"/>
            </a:pPr>
            <a:r>
              <a:rPr lang="en-US" sz="1280" dirty="0">
                <a:solidFill>
                  <a:srgbClr val="0B2545"/>
                </a:solidFill>
                <a:latin typeface="Calibri" pitchFamily="34" charset="0"/>
                <a:ea typeface="Calibri" pitchFamily="34" charset="-122"/>
                <a:cs typeface="Calibri" pitchFamily="34" charset="-120"/>
              </a:rPr>
              <a:t>ML vs DL: ML needs manual feature selection; DL learns features automatically from raw data.</a:t>
            </a:r>
            <a:endParaRPr lang="en-US" sz="1280" dirty="0"/>
          </a:p>
          <a:p>
            <a:pPr marL="177800" indent="-177800">
              <a:lnSpc>
                <a:spcPct val="115000"/>
              </a:lnSpc>
              <a:spcAft>
                <a:spcPts val="1000"/>
              </a:spcAft>
              <a:buSzPct val="100000"/>
              <a:buChar char="▪"/>
            </a:pPr>
            <a:r>
              <a:rPr lang="en-US" sz="1280" dirty="0">
                <a:solidFill>
                  <a:srgbClr val="0B2545"/>
                </a:solidFill>
                <a:latin typeface="Calibri" pitchFamily="34" charset="0"/>
                <a:ea typeface="Calibri" pitchFamily="34" charset="-122"/>
                <a:cs typeface="Calibri" pitchFamily="34" charset="-120"/>
              </a:rPr>
              <a:t>Real-life examples: Face recognition, Self-driving cars, Voice assistants.</a:t>
            </a:r>
            <a:endParaRPr lang="en-US" sz="1280" dirty="0"/>
          </a:p>
          <a:p>
            <a:pPr marL="177800" indent="-177800">
              <a:lnSpc>
                <a:spcPct val="115000"/>
              </a:lnSpc>
              <a:spcAft>
                <a:spcPts val="1000"/>
              </a:spcAft>
              <a:buSzPct val="100000"/>
              <a:buChar char="▪"/>
            </a:pPr>
            <a:r>
              <a:rPr lang="en-US" sz="1280" dirty="0">
                <a:solidFill>
                  <a:srgbClr val="0B2545"/>
                </a:solidFill>
                <a:latin typeface="Calibri" pitchFamily="34" charset="0"/>
                <a:ea typeface="Calibri" pitchFamily="34" charset="-122"/>
                <a:cs typeface="Calibri" pitchFamily="34" charset="-120"/>
              </a:rPr>
              <a:t>Advantage: Extremely accurate on images, speech &amp; text.</a:t>
            </a:r>
            <a:endParaRPr lang="en-US" sz="1280" dirty="0"/>
          </a:p>
          <a:p>
            <a:pPr marL="177800" indent="-177800">
              <a:lnSpc>
                <a:spcPct val="115000"/>
              </a:lnSpc>
              <a:spcAft>
                <a:spcPts val="1000"/>
              </a:spcAft>
              <a:buSzPct val="100000"/>
              <a:buChar char="▪"/>
            </a:pPr>
            <a:r>
              <a:rPr lang="en-US" sz="1280" dirty="0">
                <a:solidFill>
                  <a:srgbClr val="0B2545"/>
                </a:solidFill>
                <a:latin typeface="Calibri" pitchFamily="34" charset="0"/>
                <a:ea typeface="Calibri" pitchFamily="34" charset="-122"/>
                <a:cs typeface="Calibri" pitchFamily="34" charset="-120"/>
              </a:rPr>
              <a:t>Challenge: Needs huge data &amp; computing power; hard to interpret (“black box”).</a:t>
            </a:r>
            <a:endParaRPr lang="en-US" sz="1280" dirty="0"/>
          </a:p>
        </p:txBody>
      </p:sp>
      <p:sp>
        <p:nvSpPr>
          <p:cNvPr id="5" name="Shape 3"/>
          <p:cNvSpPr/>
          <p:nvPr/>
        </p:nvSpPr>
        <p:spPr>
          <a:xfrm>
            <a:off x="6949440" y="1691640"/>
            <a:ext cx="4572000" cy="4206240"/>
          </a:xfrm>
          <a:prstGeom prst="roundRect">
            <a:avLst>
              <a:gd name="adj" fmla="val 2609"/>
            </a:avLst>
          </a:prstGeom>
          <a:solidFill>
            <a:srgbClr val="0B2545"/>
          </a:solidFill>
          <a:ln/>
        </p:spPr>
      </p:sp>
      <p:sp>
        <p:nvSpPr>
          <p:cNvPr id="6" name="Text 4"/>
          <p:cNvSpPr/>
          <p:nvPr/>
        </p:nvSpPr>
        <p:spPr>
          <a:xfrm>
            <a:off x="7223760" y="1874520"/>
            <a:ext cx="4023360" cy="32004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Neural Network</a:t>
            </a:r>
            <a:endParaRPr lang="en-US" sz="1400" dirty="0"/>
          </a:p>
        </p:txBody>
      </p:sp>
      <p:sp>
        <p:nvSpPr>
          <p:cNvPr id="7" name="Shape 5"/>
          <p:cNvSpPr/>
          <p:nvPr/>
        </p:nvSpPr>
        <p:spPr>
          <a:xfrm flipV="1">
            <a:off x="7589520" y="3118104"/>
            <a:ext cx="960120" cy="402336"/>
          </a:xfrm>
          <a:prstGeom prst="line">
            <a:avLst/>
          </a:prstGeom>
          <a:noFill/>
          <a:ln w="9525">
            <a:solidFill>
              <a:srgbClr val="1E5AA8">
                <a:alpha val="65000"/>
              </a:srgbClr>
            </a:solidFill>
            <a:prstDash val="solid"/>
          </a:ln>
        </p:spPr>
      </p:sp>
      <p:sp>
        <p:nvSpPr>
          <p:cNvPr id="8" name="Shape 6"/>
          <p:cNvSpPr/>
          <p:nvPr/>
        </p:nvSpPr>
        <p:spPr>
          <a:xfrm>
            <a:off x="7589520" y="3520440"/>
            <a:ext cx="960120" cy="201168"/>
          </a:xfrm>
          <a:prstGeom prst="line">
            <a:avLst/>
          </a:prstGeom>
          <a:noFill/>
          <a:ln w="9525">
            <a:solidFill>
              <a:srgbClr val="1E5AA8">
                <a:alpha val="65000"/>
              </a:srgbClr>
            </a:solidFill>
            <a:prstDash val="solid"/>
          </a:ln>
        </p:spPr>
      </p:sp>
      <p:sp>
        <p:nvSpPr>
          <p:cNvPr id="9" name="Shape 7"/>
          <p:cNvSpPr/>
          <p:nvPr/>
        </p:nvSpPr>
        <p:spPr>
          <a:xfrm>
            <a:off x="7589520" y="3520440"/>
            <a:ext cx="960120" cy="804672"/>
          </a:xfrm>
          <a:prstGeom prst="line">
            <a:avLst/>
          </a:prstGeom>
          <a:noFill/>
          <a:ln w="9525">
            <a:solidFill>
              <a:srgbClr val="1E5AA8">
                <a:alpha val="65000"/>
              </a:srgbClr>
            </a:solidFill>
            <a:prstDash val="solid"/>
          </a:ln>
        </p:spPr>
      </p:sp>
      <p:sp>
        <p:nvSpPr>
          <p:cNvPr id="10" name="Shape 8"/>
          <p:cNvSpPr/>
          <p:nvPr/>
        </p:nvSpPr>
        <p:spPr>
          <a:xfrm>
            <a:off x="7589520" y="3520440"/>
            <a:ext cx="960120" cy="1408176"/>
          </a:xfrm>
          <a:prstGeom prst="line">
            <a:avLst/>
          </a:prstGeom>
          <a:noFill/>
          <a:ln w="9525">
            <a:solidFill>
              <a:srgbClr val="1E5AA8">
                <a:alpha val="65000"/>
              </a:srgbClr>
            </a:solidFill>
            <a:prstDash val="solid"/>
          </a:ln>
        </p:spPr>
      </p:sp>
      <p:sp>
        <p:nvSpPr>
          <p:cNvPr id="11" name="Shape 9"/>
          <p:cNvSpPr/>
          <p:nvPr/>
        </p:nvSpPr>
        <p:spPr>
          <a:xfrm flipV="1">
            <a:off x="7589520" y="3118104"/>
            <a:ext cx="960120" cy="1408176"/>
          </a:xfrm>
          <a:prstGeom prst="line">
            <a:avLst/>
          </a:prstGeom>
          <a:noFill/>
          <a:ln w="9525">
            <a:solidFill>
              <a:srgbClr val="1E5AA8">
                <a:alpha val="65000"/>
              </a:srgbClr>
            </a:solidFill>
            <a:prstDash val="solid"/>
          </a:ln>
        </p:spPr>
      </p:sp>
      <p:sp>
        <p:nvSpPr>
          <p:cNvPr id="12" name="Shape 10"/>
          <p:cNvSpPr/>
          <p:nvPr/>
        </p:nvSpPr>
        <p:spPr>
          <a:xfrm flipV="1">
            <a:off x="7589520" y="3721608"/>
            <a:ext cx="960120" cy="804672"/>
          </a:xfrm>
          <a:prstGeom prst="line">
            <a:avLst/>
          </a:prstGeom>
          <a:noFill/>
          <a:ln w="9525">
            <a:solidFill>
              <a:srgbClr val="1E5AA8">
                <a:alpha val="65000"/>
              </a:srgbClr>
            </a:solidFill>
            <a:prstDash val="solid"/>
          </a:ln>
        </p:spPr>
      </p:sp>
      <p:sp>
        <p:nvSpPr>
          <p:cNvPr id="13" name="Shape 11"/>
          <p:cNvSpPr/>
          <p:nvPr/>
        </p:nvSpPr>
        <p:spPr>
          <a:xfrm flipV="1">
            <a:off x="7589520" y="4325112"/>
            <a:ext cx="960120" cy="201168"/>
          </a:xfrm>
          <a:prstGeom prst="line">
            <a:avLst/>
          </a:prstGeom>
          <a:noFill/>
          <a:ln w="9525">
            <a:solidFill>
              <a:srgbClr val="1E5AA8">
                <a:alpha val="65000"/>
              </a:srgbClr>
            </a:solidFill>
            <a:prstDash val="solid"/>
          </a:ln>
        </p:spPr>
      </p:sp>
      <p:sp>
        <p:nvSpPr>
          <p:cNvPr id="14" name="Shape 12"/>
          <p:cNvSpPr/>
          <p:nvPr/>
        </p:nvSpPr>
        <p:spPr>
          <a:xfrm>
            <a:off x="7589520" y="4526280"/>
            <a:ext cx="960120" cy="402336"/>
          </a:xfrm>
          <a:prstGeom prst="line">
            <a:avLst/>
          </a:prstGeom>
          <a:noFill/>
          <a:ln w="9525">
            <a:solidFill>
              <a:srgbClr val="1E5AA8">
                <a:alpha val="65000"/>
              </a:srgbClr>
            </a:solidFill>
            <a:prstDash val="solid"/>
          </a:ln>
        </p:spPr>
      </p:sp>
      <p:sp>
        <p:nvSpPr>
          <p:cNvPr id="15" name="Shape 13"/>
          <p:cNvSpPr/>
          <p:nvPr/>
        </p:nvSpPr>
        <p:spPr>
          <a:xfrm>
            <a:off x="8549640" y="3118104"/>
            <a:ext cx="960120" cy="9144"/>
          </a:xfrm>
          <a:prstGeom prst="line">
            <a:avLst/>
          </a:prstGeom>
          <a:noFill/>
          <a:ln w="9525">
            <a:solidFill>
              <a:srgbClr val="1E5AA8">
                <a:alpha val="65000"/>
              </a:srgbClr>
            </a:solidFill>
            <a:prstDash val="solid"/>
          </a:ln>
        </p:spPr>
      </p:sp>
      <p:sp>
        <p:nvSpPr>
          <p:cNvPr id="16" name="Shape 14"/>
          <p:cNvSpPr/>
          <p:nvPr/>
        </p:nvSpPr>
        <p:spPr>
          <a:xfrm>
            <a:off x="8549640" y="3118104"/>
            <a:ext cx="960120" cy="603504"/>
          </a:xfrm>
          <a:prstGeom prst="line">
            <a:avLst/>
          </a:prstGeom>
          <a:noFill/>
          <a:ln w="9525">
            <a:solidFill>
              <a:srgbClr val="1E5AA8">
                <a:alpha val="65000"/>
              </a:srgbClr>
            </a:solidFill>
            <a:prstDash val="solid"/>
          </a:ln>
        </p:spPr>
      </p:sp>
      <p:sp>
        <p:nvSpPr>
          <p:cNvPr id="17" name="Shape 15"/>
          <p:cNvSpPr/>
          <p:nvPr/>
        </p:nvSpPr>
        <p:spPr>
          <a:xfrm>
            <a:off x="8549640" y="3118104"/>
            <a:ext cx="960120" cy="1207008"/>
          </a:xfrm>
          <a:prstGeom prst="line">
            <a:avLst/>
          </a:prstGeom>
          <a:noFill/>
          <a:ln w="9525">
            <a:solidFill>
              <a:srgbClr val="1E5AA8">
                <a:alpha val="65000"/>
              </a:srgbClr>
            </a:solidFill>
            <a:prstDash val="solid"/>
          </a:ln>
        </p:spPr>
      </p:sp>
      <p:sp>
        <p:nvSpPr>
          <p:cNvPr id="18" name="Shape 16"/>
          <p:cNvSpPr/>
          <p:nvPr/>
        </p:nvSpPr>
        <p:spPr>
          <a:xfrm>
            <a:off x="8549640" y="3118104"/>
            <a:ext cx="960120" cy="1810512"/>
          </a:xfrm>
          <a:prstGeom prst="line">
            <a:avLst/>
          </a:prstGeom>
          <a:noFill/>
          <a:ln w="9525">
            <a:solidFill>
              <a:srgbClr val="1E5AA8">
                <a:alpha val="65000"/>
              </a:srgbClr>
            </a:solidFill>
            <a:prstDash val="solid"/>
          </a:ln>
        </p:spPr>
      </p:sp>
      <p:sp>
        <p:nvSpPr>
          <p:cNvPr id="19" name="Shape 17"/>
          <p:cNvSpPr/>
          <p:nvPr/>
        </p:nvSpPr>
        <p:spPr>
          <a:xfrm flipV="1">
            <a:off x="8549640" y="3118104"/>
            <a:ext cx="960120" cy="603504"/>
          </a:xfrm>
          <a:prstGeom prst="line">
            <a:avLst/>
          </a:prstGeom>
          <a:noFill/>
          <a:ln w="9525">
            <a:solidFill>
              <a:srgbClr val="1E5AA8">
                <a:alpha val="65000"/>
              </a:srgbClr>
            </a:solidFill>
            <a:prstDash val="solid"/>
          </a:ln>
        </p:spPr>
      </p:sp>
      <p:sp>
        <p:nvSpPr>
          <p:cNvPr id="20" name="Shape 18"/>
          <p:cNvSpPr/>
          <p:nvPr/>
        </p:nvSpPr>
        <p:spPr>
          <a:xfrm>
            <a:off x="8549640" y="3721608"/>
            <a:ext cx="960120" cy="9144"/>
          </a:xfrm>
          <a:prstGeom prst="line">
            <a:avLst/>
          </a:prstGeom>
          <a:noFill/>
          <a:ln w="9525">
            <a:solidFill>
              <a:srgbClr val="1E5AA8">
                <a:alpha val="65000"/>
              </a:srgbClr>
            </a:solidFill>
            <a:prstDash val="solid"/>
          </a:ln>
        </p:spPr>
      </p:sp>
      <p:sp>
        <p:nvSpPr>
          <p:cNvPr id="21" name="Shape 19"/>
          <p:cNvSpPr/>
          <p:nvPr/>
        </p:nvSpPr>
        <p:spPr>
          <a:xfrm>
            <a:off x="8549640" y="3721608"/>
            <a:ext cx="960120" cy="603504"/>
          </a:xfrm>
          <a:prstGeom prst="line">
            <a:avLst/>
          </a:prstGeom>
          <a:noFill/>
          <a:ln w="9525">
            <a:solidFill>
              <a:srgbClr val="1E5AA8">
                <a:alpha val="65000"/>
              </a:srgbClr>
            </a:solidFill>
            <a:prstDash val="solid"/>
          </a:ln>
        </p:spPr>
      </p:sp>
      <p:sp>
        <p:nvSpPr>
          <p:cNvPr id="22" name="Shape 20"/>
          <p:cNvSpPr/>
          <p:nvPr/>
        </p:nvSpPr>
        <p:spPr>
          <a:xfrm>
            <a:off x="8549640" y="3721608"/>
            <a:ext cx="960120" cy="1207008"/>
          </a:xfrm>
          <a:prstGeom prst="line">
            <a:avLst/>
          </a:prstGeom>
          <a:noFill/>
          <a:ln w="9525">
            <a:solidFill>
              <a:srgbClr val="1E5AA8">
                <a:alpha val="65000"/>
              </a:srgbClr>
            </a:solidFill>
            <a:prstDash val="solid"/>
          </a:ln>
        </p:spPr>
      </p:sp>
      <p:sp>
        <p:nvSpPr>
          <p:cNvPr id="23" name="Shape 21"/>
          <p:cNvSpPr/>
          <p:nvPr/>
        </p:nvSpPr>
        <p:spPr>
          <a:xfrm flipV="1">
            <a:off x="8549640" y="3118104"/>
            <a:ext cx="960120" cy="1207008"/>
          </a:xfrm>
          <a:prstGeom prst="line">
            <a:avLst/>
          </a:prstGeom>
          <a:noFill/>
          <a:ln w="9525">
            <a:solidFill>
              <a:srgbClr val="1E5AA8">
                <a:alpha val="65000"/>
              </a:srgbClr>
            </a:solidFill>
            <a:prstDash val="solid"/>
          </a:ln>
        </p:spPr>
      </p:sp>
      <p:sp>
        <p:nvSpPr>
          <p:cNvPr id="24" name="Shape 22"/>
          <p:cNvSpPr/>
          <p:nvPr/>
        </p:nvSpPr>
        <p:spPr>
          <a:xfrm flipV="1">
            <a:off x="8549640" y="3721608"/>
            <a:ext cx="960120" cy="603504"/>
          </a:xfrm>
          <a:prstGeom prst="line">
            <a:avLst/>
          </a:prstGeom>
          <a:noFill/>
          <a:ln w="9525">
            <a:solidFill>
              <a:srgbClr val="1E5AA8">
                <a:alpha val="65000"/>
              </a:srgbClr>
            </a:solidFill>
            <a:prstDash val="solid"/>
          </a:ln>
        </p:spPr>
      </p:sp>
      <p:sp>
        <p:nvSpPr>
          <p:cNvPr id="25" name="Shape 23"/>
          <p:cNvSpPr/>
          <p:nvPr/>
        </p:nvSpPr>
        <p:spPr>
          <a:xfrm>
            <a:off x="8549640" y="4325112"/>
            <a:ext cx="960120" cy="9144"/>
          </a:xfrm>
          <a:prstGeom prst="line">
            <a:avLst/>
          </a:prstGeom>
          <a:noFill/>
          <a:ln w="9525">
            <a:solidFill>
              <a:srgbClr val="1E5AA8">
                <a:alpha val="65000"/>
              </a:srgbClr>
            </a:solidFill>
            <a:prstDash val="solid"/>
          </a:ln>
        </p:spPr>
      </p:sp>
      <p:sp>
        <p:nvSpPr>
          <p:cNvPr id="26" name="Shape 24"/>
          <p:cNvSpPr/>
          <p:nvPr/>
        </p:nvSpPr>
        <p:spPr>
          <a:xfrm>
            <a:off x="8549640" y="4325112"/>
            <a:ext cx="960120" cy="603504"/>
          </a:xfrm>
          <a:prstGeom prst="line">
            <a:avLst/>
          </a:prstGeom>
          <a:noFill/>
          <a:ln w="9525">
            <a:solidFill>
              <a:srgbClr val="1E5AA8">
                <a:alpha val="65000"/>
              </a:srgbClr>
            </a:solidFill>
            <a:prstDash val="solid"/>
          </a:ln>
        </p:spPr>
      </p:sp>
      <p:sp>
        <p:nvSpPr>
          <p:cNvPr id="27" name="Shape 25"/>
          <p:cNvSpPr/>
          <p:nvPr/>
        </p:nvSpPr>
        <p:spPr>
          <a:xfrm flipV="1">
            <a:off x="8549640" y="3118104"/>
            <a:ext cx="960120" cy="1810512"/>
          </a:xfrm>
          <a:prstGeom prst="line">
            <a:avLst/>
          </a:prstGeom>
          <a:noFill/>
          <a:ln w="9525">
            <a:solidFill>
              <a:srgbClr val="1E5AA8">
                <a:alpha val="65000"/>
              </a:srgbClr>
            </a:solidFill>
            <a:prstDash val="solid"/>
          </a:ln>
        </p:spPr>
      </p:sp>
      <p:sp>
        <p:nvSpPr>
          <p:cNvPr id="28" name="Shape 26"/>
          <p:cNvSpPr/>
          <p:nvPr/>
        </p:nvSpPr>
        <p:spPr>
          <a:xfrm flipV="1">
            <a:off x="8549640" y="3721608"/>
            <a:ext cx="960120" cy="1207008"/>
          </a:xfrm>
          <a:prstGeom prst="line">
            <a:avLst/>
          </a:prstGeom>
          <a:noFill/>
          <a:ln w="9525">
            <a:solidFill>
              <a:srgbClr val="1E5AA8">
                <a:alpha val="65000"/>
              </a:srgbClr>
            </a:solidFill>
            <a:prstDash val="solid"/>
          </a:ln>
        </p:spPr>
      </p:sp>
      <p:sp>
        <p:nvSpPr>
          <p:cNvPr id="29" name="Shape 27"/>
          <p:cNvSpPr/>
          <p:nvPr/>
        </p:nvSpPr>
        <p:spPr>
          <a:xfrm flipV="1">
            <a:off x="8549640" y="4325112"/>
            <a:ext cx="960120" cy="603504"/>
          </a:xfrm>
          <a:prstGeom prst="line">
            <a:avLst/>
          </a:prstGeom>
          <a:noFill/>
          <a:ln w="9525">
            <a:solidFill>
              <a:srgbClr val="1E5AA8">
                <a:alpha val="65000"/>
              </a:srgbClr>
            </a:solidFill>
            <a:prstDash val="solid"/>
          </a:ln>
        </p:spPr>
      </p:sp>
      <p:sp>
        <p:nvSpPr>
          <p:cNvPr id="30" name="Shape 28"/>
          <p:cNvSpPr/>
          <p:nvPr/>
        </p:nvSpPr>
        <p:spPr>
          <a:xfrm>
            <a:off x="8549640" y="4928616"/>
            <a:ext cx="960120" cy="9144"/>
          </a:xfrm>
          <a:prstGeom prst="line">
            <a:avLst/>
          </a:prstGeom>
          <a:noFill/>
          <a:ln w="9525">
            <a:solidFill>
              <a:srgbClr val="1E5AA8">
                <a:alpha val="65000"/>
              </a:srgbClr>
            </a:solidFill>
            <a:prstDash val="solid"/>
          </a:ln>
        </p:spPr>
      </p:sp>
      <p:sp>
        <p:nvSpPr>
          <p:cNvPr id="31" name="Shape 29"/>
          <p:cNvSpPr/>
          <p:nvPr/>
        </p:nvSpPr>
        <p:spPr>
          <a:xfrm>
            <a:off x="9509760" y="3118104"/>
            <a:ext cx="960120" cy="150876"/>
          </a:xfrm>
          <a:prstGeom prst="line">
            <a:avLst/>
          </a:prstGeom>
          <a:noFill/>
          <a:ln w="9525">
            <a:solidFill>
              <a:srgbClr val="1E5AA8">
                <a:alpha val="65000"/>
              </a:srgbClr>
            </a:solidFill>
            <a:prstDash val="solid"/>
          </a:ln>
        </p:spPr>
      </p:sp>
      <p:sp>
        <p:nvSpPr>
          <p:cNvPr id="32" name="Shape 30"/>
          <p:cNvSpPr/>
          <p:nvPr/>
        </p:nvSpPr>
        <p:spPr>
          <a:xfrm>
            <a:off x="9509760" y="3118104"/>
            <a:ext cx="960120" cy="905256"/>
          </a:xfrm>
          <a:prstGeom prst="line">
            <a:avLst/>
          </a:prstGeom>
          <a:noFill/>
          <a:ln w="9525">
            <a:solidFill>
              <a:srgbClr val="1E5AA8">
                <a:alpha val="65000"/>
              </a:srgbClr>
            </a:solidFill>
            <a:prstDash val="solid"/>
          </a:ln>
        </p:spPr>
      </p:sp>
      <p:sp>
        <p:nvSpPr>
          <p:cNvPr id="33" name="Shape 31"/>
          <p:cNvSpPr/>
          <p:nvPr/>
        </p:nvSpPr>
        <p:spPr>
          <a:xfrm>
            <a:off x="9509760" y="3118104"/>
            <a:ext cx="960120" cy="1659636"/>
          </a:xfrm>
          <a:prstGeom prst="line">
            <a:avLst/>
          </a:prstGeom>
          <a:noFill/>
          <a:ln w="9525">
            <a:solidFill>
              <a:srgbClr val="1E5AA8">
                <a:alpha val="65000"/>
              </a:srgbClr>
            </a:solidFill>
            <a:prstDash val="solid"/>
          </a:ln>
        </p:spPr>
      </p:sp>
      <p:sp>
        <p:nvSpPr>
          <p:cNvPr id="34" name="Shape 32"/>
          <p:cNvSpPr/>
          <p:nvPr/>
        </p:nvSpPr>
        <p:spPr>
          <a:xfrm flipV="1">
            <a:off x="9509760" y="3268980"/>
            <a:ext cx="960120" cy="452628"/>
          </a:xfrm>
          <a:prstGeom prst="line">
            <a:avLst/>
          </a:prstGeom>
          <a:noFill/>
          <a:ln w="9525">
            <a:solidFill>
              <a:srgbClr val="1E5AA8">
                <a:alpha val="65000"/>
              </a:srgbClr>
            </a:solidFill>
            <a:prstDash val="solid"/>
          </a:ln>
        </p:spPr>
      </p:sp>
      <p:sp>
        <p:nvSpPr>
          <p:cNvPr id="35" name="Shape 33"/>
          <p:cNvSpPr/>
          <p:nvPr/>
        </p:nvSpPr>
        <p:spPr>
          <a:xfrm>
            <a:off x="9509760" y="3721608"/>
            <a:ext cx="960120" cy="301752"/>
          </a:xfrm>
          <a:prstGeom prst="line">
            <a:avLst/>
          </a:prstGeom>
          <a:noFill/>
          <a:ln w="9525">
            <a:solidFill>
              <a:srgbClr val="1E5AA8">
                <a:alpha val="65000"/>
              </a:srgbClr>
            </a:solidFill>
            <a:prstDash val="solid"/>
          </a:ln>
        </p:spPr>
      </p:sp>
      <p:sp>
        <p:nvSpPr>
          <p:cNvPr id="36" name="Shape 34"/>
          <p:cNvSpPr/>
          <p:nvPr/>
        </p:nvSpPr>
        <p:spPr>
          <a:xfrm>
            <a:off x="9509760" y="3721608"/>
            <a:ext cx="960120" cy="1056132"/>
          </a:xfrm>
          <a:prstGeom prst="line">
            <a:avLst/>
          </a:prstGeom>
          <a:noFill/>
          <a:ln w="9525">
            <a:solidFill>
              <a:srgbClr val="1E5AA8">
                <a:alpha val="65000"/>
              </a:srgbClr>
            </a:solidFill>
            <a:prstDash val="solid"/>
          </a:ln>
        </p:spPr>
      </p:sp>
      <p:sp>
        <p:nvSpPr>
          <p:cNvPr id="37" name="Shape 35"/>
          <p:cNvSpPr/>
          <p:nvPr/>
        </p:nvSpPr>
        <p:spPr>
          <a:xfrm flipV="1">
            <a:off x="9509760" y="3268980"/>
            <a:ext cx="960120" cy="1056132"/>
          </a:xfrm>
          <a:prstGeom prst="line">
            <a:avLst/>
          </a:prstGeom>
          <a:noFill/>
          <a:ln w="9525">
            <a:solidFill>
              <a:srgbClr val="1E5AA8">
                <a:alpha val="65000"/>
              </a:srgbClr>
            </a:solidFill>
            <a:prstDash val="solid"/>
          </a:ln>
        </p:spPr>
      </p:sp>
      <p:sp>
        <p:nvSpPr>
          <p:cNvPr id="38" name="Shape 36"/>
          <p:cNvSpPr/>
          <p:nvPr/>
        </p:nvSpPr>
        <p:spPr>
          <a:xfrm flipV="1">
            <a:off x="9509760" y="4023360"/>
            <a:ext cx="960120" cy="301752"/>
          </a:xfrm>
          <a:prstGeom prst="line">
            <a:avLst/>
          </a:prstGeom>
          <a:noFill/>
          <a:ln w="9525">
            <a:solidFill>
              <a:srgbClr val="1E5AA8">
                <a:alpha val="65000"/>
              </a:srgbClr>
            </a:solidFill>
            <a:prstDash val="solid"/>
          </a:ln>
        </p:spPr>
      </p:sp>
      <p:sp>
        <p:nvSpPr>
          <p:cNvPr id="39" name="Shape 37"/>
          <p:cNvSpPr/>
          <p:nvPr/>
        </p:nvSpPr>
        <p:spPr>
          <a:xfrm>
            <a:off x="9509760" y="4325112"/>
            <a:ext cx="960120" cy="452628"/>
          </a:xfrm>
          <a:prstGeom prst="line">
            <a:avLst/>
          </a:prstGeom>
          <a:noFill/>
          <a:ln w="9525">
            <a:solidFill>
              <a:srgbClr val="1E5AA8">
                <a:alpha val="65000"/>
              </a:srgbClr>
            </a:solidFill>
            <a:prstDash val="solid"/>
          </a:ln>
        </p:spPr>
      </p:sp>
      <p:sp>
        <p:nvSpPr>
          <p:cNvPr id="40" name="Shape 38"/>
          <p:cNvSpPr/>
          <p:nvPr/>
        </p:nvSpPr>
        <p:spPr>
          <a:xfrm flipV="1">
            <a:off x="9509760" y="3268980"/>
            <a:ext cx="960120" cy="1659636"/>
          </a:xfrm>
          <a:prstGeom prst="line">
            <a:avLst/>
          </a:prstGeom>
          <a:noFill/>
          <a:ln w="9525">
            <a:solidFill>
              <a:srgbClr val="1E5AA8">
                <a:alpha val="65000"/>
              </a:srgbClr>
            </a:solidFill>
            <a:prstDash val="solid"/>
          </a:ln>
        </p:spPr>
      </p:sp>
      <p:sp>
        <p:nvSpPr>
          <p:cNvPr id="41" name="Shape 39"/>
          <p:cNvSpPr/>
          <p:nvPr/>
        </p:nvSpPr>
        <p:spPr>
          <a:xfrm flipV="1">
            <a:off x="9509760" y="4023360"/>
            <a:ext cx="960120" cy="905256"/>
          </a:xfrm>
          <a:prstGeom prst="line">
            <a:avLst/>
          </a:prstGeom>
          <a:noFill/>
          <a:ln w="9525">
            <a:solidFill>
              <a:srgbClr val="1E5AA8">
                <a:alpha val="65000"/>
              </a:srgbClr>
            </a:solidFill>
            <a:prstDash val="solid"/>
          </a:ln>
        </p:spPr>
      </p:sp>
      <p:sp>
        <p:nvSpPr>
          <p:cNvPr id="42" name="Shape 40"/>
          <p:cNvSpPr/>
          <p:nvPr/>
        </p:nvSpPr>
        <p:spPr>
          <a:xfrm flipV="1">
            <a:off x="9509760" y="4777740"/>
            <a:ext cx="960120" cy="150876"/>
          </a:xfrm>
          <a:prstGeom prst="line">
            <a:avLst/>
          </a:prstGeom>
          <a:noFill/>
          <a:ln w="9525">
            <a:solidFill>
              <a:srgbClr val="1E5AA8">
                <a:alpha val="65000"/>
              </a:srgbClr>
            </a:solidFill>
            <a:prstDash val="solid"/>
          </a:ln>
        </p:spPr>
      </p:sp>
      <p:sp>
        <p:nvSpPr>
          <p:cNvPr id="43" name="Shape 41"/>
          <p:cNvSpPr/>
          <p:nvPr/>
        </p:nvSpPr>
        <p:spPr>
          <a:xfrm>
            <a:off x="10469880" y="3268980"/>
            <a:ext cx="594360" cy="754380"/>
          </a:xfrm>
          <a:prstGeom prst="line">
            <a:avLst/>
          </a:prstGeom>
          <a:noFill/>
          <a:ln w="9525">
            <a:solidFill>
              <a:srgbClr val="1E5AA8">
                <a:alpha val="65000"/>
              </a:srgbClr>
            </a:solidFill>
            <a:prstDash val="solid"/>
          </a:ln>
        </p:spPr>
      </p:sp>
      <p:sp>
        <p:nvSpPr>
          <p:cNvPr id="44" name="Shape 42"/>
          <p:cNvSpPr/>
          <p:nvPr/>
        </p:nvSpPr>
        <p:spPr>
          <a:xfrm>
            <a:off x="10469880" y="4023360"/>
            <a:ext cx="594360" cy="9144"/>
          </a:xfrm>
          <a:prstGeom prst="line">
            <a:avLst/>
          </a:prstGeom>
          <a:noFill/>
          <a:ln w="9525">
            <a:solidFill>
              <a:srgbClr val="1E5AA8">
                <a:alpha val="65000"/>
              </a:srgbClr>
            </a:solidFill>
            <a:prstDash val="solid"/>
          </a:ln>
        </p:spPr>
      </p:sp>
      <p:sp>
        <p:nvSpPr>
          <p:cNvPr id="45" name="Shape 43"/>
          <p:cNvSpPr/>
          <p:nvPr/>
        </p:nvSpPr>
        <p:spPr>
          <a:xfrm flipV="1">
            <a:off x="10469880" y="4023360"/>
            <a:ext cx="594360" cy="754380"/>
          </a:xfrm>
          <a:prstGeom prst="line">
            <a:avLst/>
          </a:prstGeom>
          <a:noFill/>
          <a:ln w="9525">
            <a:solidFill>
              <a:srgbClr val="1E5AA8">
                <a:alpha val="65000"/>
              </a:srgbClr>
            </a:solidFill>
            <a:prstDash val="solid"/>
          </a:ln>
        </p:spPr>
      </p:sp>
      <p:sp>
        <p:nvSpPr>
          <p:cNvPr id="46" name="Shape 44"/>
          <p:cNvSpPr/>
          <p:nvPr/>
        </p:nvSpPr>
        <p:spPr>
          <a:xfrm>
            <a:off x="7488936" y="3419856"/>
            <a:ext cx="201168" cy="201168"/>
          </a:xfrm>
          <a:prstGeom prst="ellipse">
            <a:avLst/>
          </a:prstGeom>
          <a:solidFill>
            <a:srgbClr val="6FA6E8"/>
          </a:solidFill>
          <a:ln w="12700">
            <a:solidFill>
              <a:srgbClr val="FFFFFF"/>
            </a:solidFill>
            <a:prstDash val="solid"/>
          </a:ln>
        </p:spPr>
      </p:sp>
      <p:sp>
        <p:nvSpPr>
          <p:cNvPr id="47" name="Shape 45"/>
          <p:cNvSpPr/>
          <p:nvPr/>
        </p:nvSpPr>
        <p:spPr>
          <a:xfrm>
            <a:off x="7488936" y="4425696"/>
            <a:ext cx="201168" cy="201168"/>
          </a:xfrm>
          <a:prstGeom prst="ellipse">
            <a:avLst/>
          </a:prstGeom>
          <a:solidFill>
            <a:srgbClr val="6FA6E8"/>
          </a:solidFill>
          <a:ln w="12700">
            <a:solidFill>
              <a:srgbClr val="FFFFFF"/>
            </a:solidFill>
            <a:prstDash val="solid"/>
          </a:ln>
        </p:spPr>
      </p:sp>
      <p:sp>
        <p:nvSpPr>
          <p:cNvPr id="48" name="Shape 46"/>
          <p:cNvSpPr/>
          <p:nvPr/>
        </p:nvSpPr>
        <p:spPr>
          <a:xfrm>
            <a:off x="8449056" y="3017520"/>
            <a:ext cx="201168" cy="201168"/>
          </a:xfrm>
          <a:prstGeom prst="ellipse">
            <a:avLst/>
          </a:prstGeom>
          <a:solidFill>
            <a:srgbClr val="6FA6E8"/>
          </a:solidFill>
          <a:ln w="12700">
            <a:solidFill>
              <a:srgbClr val="FFFFFF"/>
            </a:solidFill>
            <a:prstDash val="solid"/>
          </a:ln>
        </p:spPr>
      </p:sp>
      <p:sp>
        <p:nvSpPr>
          <p:cNvPr id="49" name="Shape 47"/>
          <p:cNvSpPr/>
          <p:nvPr/>
        </p:nvSpPr>
        <p:spPr>
          <a:xfrm>
            <a:off x="8449056" y="3621024"/>
            <a:ext cx="201168" cy="201168"/>
          </a:xfrm>
          <a:prstGeom prst="ellipse">
            <a:avLst/>
          </a:prstGeom>
          <a:solidFill>
            <a:srgbClr val="6FA6E8"/>
          </a:solidFill>
          <a:ln w="12700">
            <a:solidFill>
              <a:srgbClr val="FFFFFF"/>
            </a:solidFill>
            <a:prstDash val="solid"/>
          </a:ln>
        </p:spPr>
      </p:sp>
      <p:sp>
        <p:nvSpPr>
          <p:cNvPr id="50" name="Shape 48"/>
          <p:cNvSpPr/>
          <p:nvPr/>
        </p:nvSpPr>
        <p:spPr>
          <a:xfrm>
            <a:off x="8449056" y="4224528"/>
            <a:ext cx="201168" cy="201168"/>
          </a:xfrm>
          <a:prstGeom prst="ellipse">
            <a:avLst/>
          </a:prstGeom>
          <a:solidFill>
            <a:srgbClr val="6FA6E8"/>
          </a:solidFill>
          <a:ln w="12700">
            <a:solidFill>
              <a:srgbClr val="FFFFFF"/>
            </a:solidFill>
            <a:prstDash val="solid"/>
          </a:ln>
        </p:spPr>
      </p:sp>
      <p:sp>
        <p:nvSpPr>
          <p:cNvPr id="51" name="Shape 49"/>
          <p:cNvSpPr/>
          <p:nvPr/>
        </p:nvSpPr>
        <p:spPr>
          <a:xfrm>
            <a:off x="8449056" y="4828032"/>
            <a:ext cx="201168" cy="201168"/>
          </a:xfrm>
          <a:prstGeom prst="ellipse">
            <a:avLst/>
          </a:prstGeom>
          <a:solidFill>
            <a:srgbClr val="6FA6E8"/>
          </a:solidFill>
          <a:ln w="12700">
            <a:solidFill>
              <a:srgbClr val="FFFFFF"/>
            </a:solidFill>
            <a:prstDash val="solid"/>
          </a:ln>
        </p:spPr>
      </p:sp>
      <p:sp>
        <p:nvSpPr>
          <p:cNvPr id="52" name="Shape 50"/>
          <p:cNvSpPr/>
          <p:nvPr/>
        </p:nvSpPr>
        <p:spPr>
          <a:xfrm>
            <a:off x="9409176" y="3017520"/>
            <a:ext cx="201168" cy="201168"/>
          </a:xfrm>
          <a:prstGeom prst="ellipse">
            <a:avLst/>
          </a:prstGeom>
          <a:solidFill>
            <a:srgbClr val="6FA6E8"/>
          </a:solidFill>
          <a:ln w="12700">
            <a:solidFill>
              <a:srgbClr val="FFFFFF"/>
            </a:solidFill>
            <a:prstDash val="solid"/>
          </a:ln>
        </p:spPr>
      </p:sp>
      <p:sp>
        <p:nvSpPr>
          <p:cNvPr id="53" name="Shape 51"/>
          <p:cNvSpPr/>
          <p:nvPr/>
        </p:nvSpPr>
        <p:spPr>
          <a:xfrm>
            <a:off x="9409176" y="3621024"/>
            <a:ext cx="201168" cy="201168"/>
          </a:xfrm>
          <a:prstGeom prst="ellipse">
            <a:avLst/>
          </a:prstGeom>
          <a:solidFill>
            <a:srgbClr val="6FA6E8"/>
          </a:solidFill>
          <a:ln w="12700">
            <a:solidFill>
              <a:srgbClr val="FFFFFF"/>
            </a:solidFill>
            <a:prstDash val="solid"/>
          </a:ln>
        </p:spPr>
      </p:sp>
      <p:sp>
        <p:nvSpPr>
          <p:cNvPr id="54" name="Shape 52"/>
          <p:cNvSpPr/>
          <p:nvPr/>
        </p:nvSpPr>
        <p:spPr>
          <a:xfrm>
            <a:off x="9409176" y="4224528"/>
            <a:ext cx="201168" cy="201168"/>
          </a:xfrm>
          <a:prstGeom prst="ellipse">
            <a:avLst/>
          </a:prstGeom>
          <a:solidFill>
            <a:srgbClr val="6FA6E8"/>
          </a:solidFill>
          <a:ln w="12700">
            <a:solidFill>
              <a:srgbClr val="FFFFFF"/>
            </a:solidFill>
            <a:prstDash val="solid"/>
          </a:ln>
        </p:spPr>
      </p:sp>
      <p:sp>
        <p:nvSpPr>
          <p:cNvPr id="55" name="Shape 53"/>
          <p:cNvSpPr/>
          <p:nvPr/>
        </p:nvSpPr>
        <p:spPr>
          <a:xfrm>
            <a:off x="9409176" y="4828032"/>
            <a:ext cx="201168" cy="201168"/>
          </a:xfrm>
          <a:prstGeom prst="ellipse">
            <a:avLst/>
          </a:prstGeom>
          <a:solidFill>
            <a:srgbClr val="6FA6E8"/>
          </a:solidFill>
          <a:ln w="12700">
            <a:solidFill>
              <a:srgbClr val="FFFFFF"/>
            </a:solidFill>
            <a:prstDash val="solid"/>
          </a:ln>
        </p:spPr>
      </p:sp>
      <p:sp>
        <p:nvSpPr>
          <p:cNvPr id="56" name="Shape 54"/>
          <p:cNvSpPr/>
          <p:nvPr/>
        </p:nvSpPr>
        <p:spPr>
          <a:xfrm>
            <a:off x="10369296" y="3168396"/>
            <a:ext cx="201168" cy="201168"/>
          </a:xfrm>
          <a:prstGeom prst="ellipse">
            <a:avLst/>
          </a:prstGeom>
          <a:solidFill>
            <a:srgbClr val="6FA6E8"/>
          </a:solidFill>
          <a:ln w="12700">
            <a:solidFill>
              <a:srgbClr val="FFFFFF"/>
            </a:solidFill>
            <a:prstDash val="solid"/>
          </a:ln>
        </p:spPr>
      </p:sp>
      <p:sp>
        <p:nvSpPr>
          <p:cNvPr id="57" name="Shape 55"/>
          <p:cNvSpPr/>
          <p:nvPr/>
        </p:nvSpPr>
        <p:spPr>
          <a:xfrm>
            <a:off x="10369296" y="3922776"/>
            <a:ext cx="201168" cy="201168"/>
          </a:xfrm>
          <a:prstGeom prst="ellipse">
            <a:avLst/>
          </a:prstGeom>
          <a:solidFill>
            <a:srgbClr val="6FA6E8"/>
          </a:solidFill>
          <a:ln w="12700">
            <a:solidFill>
              <a:srgbClr val="FFFFFF"/>
            </a:solidFill>
            <a:prstDash val="solid"/>
          </a:ln>
        </p:spPr>
      </p:sp>
      <p:sp>
        <p:nvSpPr>
          <p:cNvPr id="58" name="Shape 56"/>
          <p:cNvSpPr/>
          <p:nvPr/>
        </p:nvSpPr>
        <p:spPr>
          <a:xfrm>
            <a:off x="10369296" y="4677156"/>
            <a:ext cx="201168" cy="201168"/>
          </a:xfrm>
          <a:prstGeom prst="ellipse">
            <a:avLst/>
          </a:prstGeom>
          <a:solidFill>
            <a:srgbClr val="6FA6E8"/>
          </a:solidFill>
          <a:ln w="12700">
            <a:solidFill>
              <a:srgbClr val="FFFFFF"/>
            </a:solidFill>
            <a:prstDash val="solid"/>
          </a:ln>
        </p:spPr>
      </p:sp>
      <p:sp>
        <p:nvSpPr>
          <p:cNvPr id="59" name="Shape 57"/>
          <p:cNvSpPr/>
          <p:nvPr/>
        </p:nvSpPr>
        <p:spPr>
          <a:xfrm>
            <a:off x="10963656" y="3922776"/>
            <a:ext cx="201168" cy="201168"/>
          </a:xfrm>
          <a:prstGeom prst="ellipse">
            <a:avLst/>
          </a:prstGeom>
          <a:solidFill>
            <a:srgbClr val="2F86EB"/>
          </a:solidFill>
          <a:ln w="12700">
            <a:solidFill>
              <a:srgbClr val="FFFFFF"/>
            </a:solidFill>
            <a:prstDash val="solid"/>
          </a:ln>
        </p:spPr>
      </p:sp>
      <p:sp>
        <p:nvSpPr>
          <p:cNvPr id="60" name="Text 58"/>
          <p:cNvSpPr/>
          <p:nvPr/>
        </p:nvSpPr>
        <p:spPr>
          <a:xfrm>
            <a:off x="7269480" y="5577840"/>
            <a:ext cx="822960" cy="228600"/>
          </a:xfrm>
          <a:prstGeom prst="rect">
            <a:avLst/>
          </a:prstGeom>
          <a:noFill/>
          <a:ln/>
        </p:spPr>
        <p:txBody>
          <a:bodyPr wrap="square" rtlCol="0" anchor="ctr"/>
          <a:lstStyle/>
          <a:p>
            <a:pPr algn="ctr" indent="0" marL="0">
              <a:buNone/>
            </a:pPr>
            <a:r>
              <a:rPr lang="en-US" sz="950" dirty="0">
                <a:solidFill>
                  <a:srgbClr val="AEC6E3"/>
                </a:solidFill>
                <a:latin typeface="Calibri" pitchFamily="34" charset="0"/>
                <a:ea typeface="Calibri" pitchFamily="34" charset="-122"/>
                <a:cs typeface="Calibri" pitchFamily="34" charset="-120"/>
              </a:rPr>
              <a:t>Input</a:t>
            </a:r>
            <a:endParaRPr lang="en-US" sz="950" dirty="0"/>
          </a:p>
        </p:txBody>
      </p:sp>
      <p:sp>
        <p:nvSpPr>
          <p:cNvPr id="61" name="Text 59"/>
          <p:cNvSpPr/>
          <p:nvPr/>
        </p:nvSpPr>
        <p:spPr>
          <a:xfrm>
            <a:off x="8183880" y="5577840"/>
            <a:ext cx="2011680" cy="228600"/>
          </a:xfrm>
          <a:prstGeom prst="rect">
            <a:avLst/>
          </a:prstGeom>
          <a:noFill/>
          <a:ln/>
        </p:spPr>
        <p:txBody>
          <a:bodyPr wrap="square" rtlCol="0" anchor="ctr"/>
          <a:lstStyle/>
          <a:p>
            <a:pPr algn="ctr" indent="0" marL="0">
              <a:buNone/>
            </a:pPr>
            <a:r>
              <a:rPr lang="en-US" sz="950" dirty="0">
                <a:solidFill>
                  <a:srgbClr val="AEC6E3"/>
                </a:solidFill>
                <a:latin typeface="Calibri" pitchFamily="34" charset="0"/>
                <a:ea typeface="Calibri" pitchFamily="34" charset="-122"/>
                <a:cs typeface="Calibri" pitchFamily="34" charset="-120"/>
              </a:rPr>
              <a:t>Hidden Layers</a:t>
            </a:r>
            <a:endParaRPr lang="en-US" sz="950" dirty="0"/>
          </a:p>
        </p:txBody>
      </p:sp>
      <p:sp>
        <p:nvSpPr>
          <p:cNvPr id="62" name="Text 60"/>
          <p:cNvSpPr/>
          <p:nvPr/>
        </p:nvSpPr>
        <p:spPr>
          <a:xfrm>
            <a:off x="10698480" y="5577840"/>
            <a:ext cx="822960" cy="228600"/>
          </a:xfrm>
          <a:prstGeom prst="rect">
            <a:avLst/>
          </a:prstGeom>
          <a:noFill/>
          <a:ln/>
        </p:spPr>
        <p:txBody>
          <a:bodyPr wrap="square" rtlCol="0" anchor="ctr"/>
          <a:lstStyle/>
          <a:p>
            <a:pPr algn="ctr" indent="0" marL="0">
              <a:buNone/>
            </a:pPr>
            <a:r>
              <a:rPr lang="en-US" sz="950" dirty="0">
                <a:solidFill>
                  <a:srgbClr val="AEC6E3"/>
                </a:solidFill>
                <a:latin typeface="Calibri" pitchFamily="34" charset="0"/>
                <a:ea typeface="Calibri" pitchFamily="34" charset="-122"/>
                <a:cs typeface="Calibri" pitchFamily="34" charset="-120"/>
              </a:rPr>
              <a:t>Output</a:t>
            </a:r>
            <a:endParaRPr lang="en-US" sz="950" dirty="0"/>
          </a:p>
        </p:txBody>
      </p:sp>
      <p:sp>
        <p:nvSpPr>
          <p:cNvPr id="63" name="Text 61"/>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64" name="Text 6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STAGE 04</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Generative AI</a:t>
            </a:r>
            <a:endParaRPr lang="en-US" sz="3000" dirty="0"/>
          </a:p>
        </p:txBody>
      </p:sp>
      <p:sp>
        <p:nvSpPr>
          <p:cNvPr id="4" name="Text 2"/>
          <p:cNvSpPr/>
          <p:nvPr/>
        </p:nvSpPr>
        <p:spPr>
          <a:xfrm>
            <a:off x="548640" y="1508760"/>
            <a:ext cx="5577840" cy="4297680"/>
          </a:xfrm>
          <a:prstGeom prst="rect">
            <a:avLst/>
          </a:prstGeom>
          <a:noFill/>
          <a:ln/>
        </p:spPr>
        <p:txBody>
          <a:bodyPr wrap="square" rtlCol="0" anchor="t"/>
          <a:lstStyle/>
          <a:p>
            <a:pPr marL="177800" indent="-177800">
              <a:lnSpc>
                <a:spcPct val="115000"/>
              </a:lnSpc>
              <a:spcAft>
                <a:spcPts val="1000"/>
              </a:spcAft>
              <a:buSzPct val="100000"/>
              <a:buChar char="▪"/>
            </a:pPr>
            <a:r>
              <a:rPr lang="en-US" sz="1300" dirty="0">
                <a:solidFill>
                  <a:srgbClr val="0B2545"/>
                </a:solidFill>
                <a:latin typeface="Calibri" pitchFamily="34" charset="0"/>
                <a:ea typeface="Calibri" pitchFamily="34" charset="-122"/>
                <a:cs typeface="Calibri" pitchFamily="34" charset="-120"/>
              </a:rPr>
              <a:t>AI that creates brand-new content — text, images, music &amp; video — rather than just analyzing data.</a:t>
            </a:r>
            <a:endParaRPr lang="en-US" sz="1300" dirty="0"/>
          </a:p>
          <a:p>
            <a:pPr marL="177800" indent="-177800">
              <a:lnSpc>
                <a:spcPct val="115000"/>
              </a:lnSpc>
              <a:spcAft>
                <a:spcPts val="1000"/>
              </a:spcAft>
              <a:buSzPct val="100000"/>
              <a:buChar char="▪"/>
            </a:pPr>
            <a:r>
              <a:rPr lang="en-US" sz="1300" dirty="0">
                <a:solidFill>
                  <a:srgbClr val="0B2545"/>
                </a:solidFill>
                <a:latin typeface="Calibri" pitchFamily="34" charset="0"/>
                <a:ea typeface="Calibri" pitchFamily="34" charset="-122"/>
                <a:cs typeface="Calibri" pitchFamily="34" charset="-120"/>
              </a:rPr>
              <a:t>Learns patterns from massive datasets, then generates original output on request.</a:t>
            </a:r>
            <a:endParaRPr lang="en-US" sz="1300" dirty="0"/>
          </a:p>
          <a:p>
            <a:pPr marL="177800" indent="-177800">
              <a:lnSpc>
                <a:spcPct val="115000"/>
              </a:lnSpc>
              <a:spcAft>
                <a:spcPts val="1000"/>
              </a:spcAft>
              <a:buSzPct val="100000"/>
              <a:buChar char="▪"/>
            </a:pPr>
            <a:r>
              <a:rPr lang="en-US" sz="1300" dirty="0">
                <a:solidFill>
                  <a:srgbClr val="0B2545"/>
                </a:solidFill>
                <a:latin typeface="Calibri" pitchFamily="34" charset="0"/>
                <a:ea typeface="Calibri" pitchFamily="34" charset="-122"/>
                <a:cs typeface="Calibri" pitchFamily="34" charset="-120"/>
              </a:rPr>
              <a:t>Real-life applications: Content writing, art &amp; design, coding help, music composition.</a:t>
            </a:r>
            <a:endParaRPr lang="en-US" sz="1300" dirty="0"/>
          </a:p>
          <a:p>
            <a:pPr marL="177800" indent="-177800">
              <a:lnSpc>
                <a:spcPct val="115000"/>
              </a:lnSpc>
              <a:spcAft>
                <a:spcPts val="1000"/>
              </a:spcAft>
              <a:buSzPct val="100000"/>
              <a:buChar char="▪"/>
            </a:pPr>
            <a:r>
              <a:rPr lang="en-US" sz="1300" dirty="0">
                <a:solidFill>
                  <a:srgbClr val="0B2545"/>
                </a:solidFill>
                <a:latin typeface="Calibri" pitchFamily="34" charset="0"/>
                <a:ea typeface="Calibri" pitchFamily="34" charset="-122"/>
                <a:cs typeface="Calibri" pitchFamily="34" charset="-120"/>
              </a:rPr>
              <a:t>Advantage: Massively speeds up creative &amp; knowledge work.</a:t>
            </a:r>
            <a:endParaRPr lang="en-US" sz="1300" dirty="0"/>
          </a:p>
          <a:p>
            <a:pPr marL="177800" indent="-177800">
              <a:lnSpc>
                <a:spcPct val="115000"/>
              </a:lnSpc>
              <a:spcAft>
                <a:spcPts val="1000"/>
              </a:spcAft>
              <a:buSzPct val="100000"/>
              <a:buChar char="▪"/>
            </a:pPr>
            <a:r>
              <a:rPr lang="en-US" sz="1300" dirty="0">
                <a:solidFill>
                  <a:srgbClr val="0B2545"/>
                </a:solidFill>
                <a:latin typeface="Calibri" pitchFamily="34" charset="0"/>
                <a:ea typeface="Calibri" pitchFamily="34" charset="-122"/>
                <a:cs typeface="Calibri" pitchFamily="34" charset="-120"/>
              </a:rPr>
              <a:t>Ethical challenges: Misinformation, deepfakes, copyright &amp; job-impact concerns.</a:t>
            </a:r>
            <a:endParaRPr lang="en-US" sz="1300" dirty="0"/>
          </a:p>
        </p:txBody>
      </p:sp>
      <p:sp>
        <p:nvSpPr>
          <p:cNvPr id="5" name="Shape 3"/>
          <p:cNvSpPr/>
          <p:nvPr/>
        </p:nvSpPr>
        <p:spPr>
          <a:xfrm>
            <a:off x="7360920" y="1508760"/>
            <a:ext cx="4251960" cy="1965960"/>
          </a:xfrm>
          <a:prstGeom prst="roundRect">
            <a:avLst>
              <a:gd name="adj" fmla="val 5581"/>
            </a:avLst>
          </a:prstGeom>
          <a:solidFill>
            <a:srgbClr val="E8F1FB"/>
          </a:solidFill>
          <a:ln/>
        </p:spPr>
      </p:sp>
      <p:sp>
        <p:nvSpPr>
          <p:cNvPr id="6" name="Text 4"/>
          <p:cNvSpPr/>
          <p:nvPr/>
        </p:nvSpPr>
        <p:spPr>
          <a:xfrm>
            <a:off x="7635240" y="1691640"/>
            <a:ext cx="3703320" cy="292608"/>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Popular Tools</a:t>
            </a:r>
            <a:endParaRPr lang="en-US" sz="1400" dirty="0"/>
          </a:p>
        </p:txBody>
      </p:sp>
      <p:sp>
        <p:nvSpPr>
          <p:cNvPr id="7" name="Shape 5"/>
          <p:cNvSpPr/>
          <p:nvPr/>
        </p:nvSpPr>
        <p:spPr>
          <a:xfrm>
            <a:off x="7635240" y="2148840"/>
            <a:ext cx="1234440" cy="384048"/>
          </a:xfrm>
          <a:prstGeom prst="roundRect">
            <a:avLst>
              <a:gd name="adj" fmla="val 50000"/>
            </a:avLst>
          </a:prstGeom>
          <a:solidFill>
            <a:srgbClr val="1E5AA8"/>
          </a:solidFill>
          <a:ln/>
        </p:spPr>
      </p:sp>
      <p:sp>
        <p:nvSpPr>
          <p:cNvPr id="8" name="Text 6"/>
          <p:cNvSpPr/>
          <p:nvPr/>
        </p:nvSpPr>
        <p:spPr>
          <a:xfrm>
            <a:off x="7635240" y="2148840"/>
            <a:ext cx="12344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ChatGPT</a:t>
            </a:r>
            <a:endParaRPr lang="en-US" sz="1050" dirty="0"/>
          </a:p>
        </p:txBody>
      </p:sp>
      <p:sp>
        <p:nvSpPr>
          <p:cNvPr id="9" name="Shape 7"/>
          <p:cNvSpPr/>
          <p:nvPr/>
        </p:nvSpPr>
        <p:spPr>
          <a:xfrm>
            <a:off x="9006840" y="2148840"/>
            <a:ext cx="1234440" cy="384048"/>
          </a:xfrm>
          <a:prstGeom prst="roundRect">
            <a:avLst>
              <a:gd name="adj" fmla="val 50000"/>
            </a:avLst>
          </a:prstGeom>
          <a:solidFill>
            <a:srgbClr val="1E5AA8"/>
          </a:solidFill>
          <a:ln/>
        </p:spPr>
      </p:sp>
      <p:sp>
        <p:nvSpPr>
          <p:cNvPr id="10" name="Text 8"/>
          <p:cNvSpPr/>
          <p:nvPr/>
        </p:nvSpPr>
        <p:spPr>
          <a:xfrm>
            <a:off x="9006840" y="2148840"/>
            <a:ext cx="12344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Gemini</a:t>
            </a:r>
            <a:endParaRPr lang="en-US" sz="1050" dirty="0"/>
          </a:p>
        </p:txBody>
      </p:sp>
      <p:sp>
        <p:nvSpPr>
          <p:cNvPr id="11" name="Shape 9"/>
          <p:cNvSpPr/>
          <p:nvPr/>
        </p:nvSpPr>
        <p:spPr>
          <a:xfrm>
            <a:off x="10378440" y="2148840"/>
            <a:ext cx="1234440" cy="384048"/>
          </a:xfrm>
          <a:prstGeom prst="roundRect">
            <a:avLst>
              <a:gd name="adj" fmla="val 50000"/>
            </a:avLst>
          </a:prstGeom>
          <a:solidFill>
            <a:srgbClr val="1E5AA8"/>
          </a:solidFill>
          <a:ln/>
        </p:spPr>
      </p:sp>
      <p:sp>
        <p:nvSpPr>
          <p:cNvPr id="12" name="Text 10"/>
          <p:cNvSpPr/>
          <p:nvPr/>
        </p:nvSpPr>
        <p:spPr>
          <a:xfrm>
            <a:off x="10378440" y="2148840"/>
            <a:ext cx="12344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Claude</a:t>
            </a:r>
            <a:endParaRPr lang="en-US" sz="1050" dirty="0"/>
          </a:p>
        </p:txBody>
      </p:sp>
      <p:sp>
        <p:nvSpPr>
          <p:cNvPr id="13" name="Shape 11"/>
          <p:cNvSpPr/>
          <p:nvPr/>
        </p:nvSpPr>
        <p:spPr>
          <a:xfrm>
            <a:off x="7635240" y="2651760"/>
            <a:ext cx="1554480" cy="384048"/>
          </a:xfrm>
          <a:prstGeom prst="roundRect">
            <a:avLst>
              <a:gd name="adj" fmla="val 50000"/>
            </a:avLst>
          </a:prstGeom>
          <a:solidFill>
            <a:srgbClr val="1E5AA8"/>
          </a:solidFill>
          <a:ln/>
        </p:spPr>
      </p:sp>
      <p:sp>
        <p:nvSpPr>
          <p:cNvPr id="14" name="Text 12"/>
          <p:cNvSpPr/>
          <p:nvPr/>
        </p:nvSpPr>
        <p:spPr>
          <a:xfrm>
            <a:off x="7635240" y="2651760"/>
            <a:ext cx="15544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Midjourney</a:t>
            </a:r>
            <a:endParaRPr lang="en-US" sz="1050" dirty="0"/>
          </a:p>
        </p:txBody>
      </p:sp>
      <p:sp>
        <p:nvSpPr>
          <p:cNvPr id="15" name="Shape 13"/>
          <p:cNvSpPr/>
          <p:nvPr/>
        </p:nvSpPr>
        <p:spPr>
          <a:xfrm>
            <a:off x="9326880" y="2651760"/>
            <a:ext cx="1234440" cy="384048"/>
          </a:xfrm>
          <a:prstGeom prst="roundRect">
            <a:avLst>
              <a:gd name="adj" fmla="val 50000"/>
            </a:avLst>
          </a:prstGeom>
          <a:solidFill>
            <a:srgbClr val="1E5AA8"/>
          </a:solidFill>
          <a:ln/>
        </p:spPr>
      </p:sp>
      <p:sp>
        <p:nvSpPr>
          <p:cNvPr id="16" name="Text 14"/>
          <p:cNvSpPr/>
          <p:nvPr/>
        </p:nvSpPr>
        <p:spPr>
          <a:xfrm>
            <a:off x="9326880" y="2651760"/>
            <a:ext cx="12344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DALL·E</a:t>
            </a:r>
            <a:endParaRPr lang="en-US" sz="1050" dirty="0"/>
          </a:p>
        </p:txBody>
      </p:sp>
      <p:sp>
        <p:nvSpPr>
          <p:cNvPr id="17" name="Text 15"/>
          <p:cNvSpPr/>
          <p:nvPr/>
        </p:nvSpPr>
        <p:spPr>
          <a:xfrm>
            <a:off x="7406640" y="3703320"/>
            <a:ext cx="4160520" cy="292608"/>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What It Can Generate</a:t>
            </a:r>
            <a:endParaRPr lang="en-US" sz="1400" dirty="0"/>
          </a:p>
        </p:txBody>
      </p:sp>
      <p:sp>
        <p:nvSpPr>
          <p:cNvPr id="18" name="Shape 16"/>
          <p:cNvSpPr/>
          <p:nvPr/>
        </p:nvSpPr>
        <p:spPr>
          <a:xfrm>
            <a:off x="7397496" y="4288536"/>
            <a:ext cx="658368" cy="658368"/>
          </a:xfrm>
          <a:prstGeom prst="ellipse">
            <a:avLst/>
          </a:prstGeom>
          <a:solidFill>
            <a:srgbClr val="2F86EB"/>
          </a:solidFill>
          <a:ln/>
          <a:effectLst>
            <a:outerShdw sx="100000" sy="100000" kx="0" ky="0" algn="bl" rotWithShape="0" blurRad="76200" dist="25400" dir="5400000">
              <a:srgbClr val="1B2A41">
                <a:alpha val="25000"/>
              </a:srgbClr>
            </a:outerShdw>
          </a:effectLst>
        </p:spPr>
      </p:sp>
      <p:pic>
        <p:nvPicPr>
          <p:cNvPr id="19" name="Image 0" descr="/home/claude/ai_deck/icons/pen-white.png">    </p:cNvPr>
          <p:cNvPicPr>
            <a:picLocks noChangeAspect="1"/>
          </p:cNvPicPr>
          <p:nvPr/>
        </p:nvPicPr>
        <p:blipFill>
          <a:blip r:embed="rId1"/>
          <a:stretch>
            <a:fillRect/>
          </a:stretch>
        </p:blipFill>
        <p:spPr>
          <a:xfrm>
            <a:off x="7562088" y="4453128"/>
            <a:ext cx="329184" cy="329184"/>
          </a:xfrm>
          <a:prstGeom prst="rect">
            <a:avLst/>
          </a:prstGeom>
        </p:spPr>
      </p:pic>
      <p:sp>
        <p:nvSpPr>
          <p:cNvPr id="20" name="Text 17"/>
          <p:cNvSpPr/>
          <p:nvPr/>
        </p:nvSpPr>
        <p:spPr>
          <a:xfrm>
            <a:off x="7223760" y="5029200"/>
            <a:ext cx="1005840" cy="274320"/>
          </a:xfrm>
          <a:prstGeom prst="rect">
            <a:avLst/>
          </a:prstGeom>
          <a:noFill/>
          <a:ln/>
        </p:spPr>
        <p:txBody>
          <a:bodyPr wrap="square"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Text</a:t>
            </a:r>
            <a:endParaRPr lang="en-US" sz="1050" dirty="0"/>
          </a:p>
        </p:txBody>
      </p:sp>
      <p:sp>
        <p:nvSpPr>
          <p:cNvPr id="21" name="Shape 18"/>
          <p:cNvSpPr/>
          <p:nvPr/>
        </p:nvSpPr>
        <p:spPr>
          <a:xfrm>
            <a:off x="8357616" y="4288536"/>
            <a:ext cx="658368" cy="658368"/>
          </a:xfrm>
          <a:prstGeom prst="ellipse">
            <a:avLst/>
          </a:prstGeom>
          <a:solidFill>
            <a:srgbClr val="2F86EB"/>
          </a:solidFill>
          <a:ln/>
          <a:effectLst>
            <a:outerShdw sx="100000" sy="100000" kx="0" ky="0" algn="bl" rotWithShape="0" blurRad="76200" dist="25400" dir="5400000">
              <a:srgbClr val="1B2A41">
                <a:alpha val="25000"/>
              </a:srgbClr>
            </a:outerShdw>
          </a:effectLst>
        </p:spPr>
      </p:sp>
      <p:pic>
        <p:nvPicPr>
          <p:cNvPr id="22" name="Image 1" descr="/home/claude/ai_deck/icons/image-white.png">    </p:cNvPr>
          <p:cNvPicPr>
            <a:picLocks noChangeAspect="1"/>
          </p:cNvPicPr>
          <p:nvPr/>
        </p:nvPicPr>
        <p:blipFill>
          <a:blip r:embed="rId2"/>
          <a:stretch>
            <a:fillRect/>
          </a:stretch>
        </p:blipFill>
        <p:spPr>
          <a:xfrm>
            <a:off x="8522208" y="4453128"/>
            <a:ext cx="329184" cy="329184"/>
          </a:xfrm>
          <a:prstGeom prst="rect">
            <a:avLst/>
          </a:prstGeom>
        </p:spPr>
      </p:pic>
      <p:sp>
        <p:nvSpPr>
          <p:cNvPr id="23" name="Text 19"/>
          <p:cNvSpPr/>
          <p:nvPr/>
        </p:nvSpPr>
        <p:spPr>
          <a:xfrm>
            <a:off x="8183880" y="5029200"/>
            <a:ext cx="1005840" cy="274320"/>
          </a:xfrm>
          <a:prstGeom prst="rect">
            <a:avLst/>
          </a:prstGeom>
          <a:noFill/>
          <a:ln/>
        </p:spPr>
        <p:txBody>
          <a:bodyPr wrap="square"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Images</a:t>
            </a:r>
            <a:endParaRPr lang="en-US" sz="1050" dirty="0"/>
          </a:p>
        </p:txBody>
      </p:sp>
      <p:sp>
        <p:nvSpPr>
          <p:cNvPr id="24" name="Shape 20"/>
          <p:cNvSpPr/>
          <p:nvPr/>
        </p:nvSpPr>
        <p:spPr>
          <a:xfrm>
            <a:off x="9317736" y="4288536"/>
            <a:ext cx="658368" cy="658368"/>
          </a:xfrm>
          <a:prstGeom prst="ellipse">
            <a:avLst/>
          </a:prstGeom>
          <a:solidFill>
            <a:srgbClr val="2F86EB"/>
          </a:solidFill>
          <a:ln/>
          <a:effectLst>
            <a:outerShdw sx="100000" sy="100000" kx="0" ky="0" algn="bl" rotWithShape="0" blurRad="76200" dist="25400" dir="5400000">
              <a:srgbClr val="1B2A41">
                <a:alpha val="25000"/>
              </a:srgbClr>
            </a:outerShdw>
          </a:effectLst>
        </p:spPr>
      </p:sp>
      <p:pic>
        <p:nvPicPr>
          <p:cNvPr id="25" name="Image 2" descr="/home/claude/ai_deck/icons/music-white.png">    </p:cNvPr>
          <p:cNvPicPr>
            <a:picLocks noChangeAspect="1"/>
          </p:cNvPicPr>
          <p:nvPr/>
        </p:nvPicPr>
        <p:blipFill>
          <a:blip r:embed="rId3"/>
          <a:stretch>
            <a:fillRect/>
          </a:stretch>
        </p:blipFill>
        <p:spPr>
          <a:xfrm>
            <a:off x="9482328" y="4453128"/>
            <a:ext cx="329184" cy="329184"/>
          </a:xfrm>
          <a:prstGeom prst="rect">
            <a:avLst/>
          </a:prstGeom>
        </p:spPr>
      </p:pic>
      <p:sp>
        <p:nvSpPr>
          <p:cNvPr id="26" name="Text 21"/>
          <p:cNvSpPr/>
          <p:nvPr/>
        </p:nvSpPr>
        <p:spPr>
          <a:xfrm>
            <a:off x="9144000" y="5029200"/>
            <a:ext cx="1005840" cy="274320"/>
          </a:xfrm>
          <a:prstGeom prst="rect">
            <a:avLst/>
          </a:prstGeom>
          <a:noFill/>
          <a:ln/>
        </p:spPr>
        <p:txBody>
          <a:bodyPr wrap="square"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Music</a:t>
            </a:r>
            <a:endParaRPr lang="en-US" sz="1050" dirty="0"/>
          </a:p>
        </p:txBody>
      </p:sp>
      <p:sp>
        <p:nvSpPr>
          <p:cNvPr id="27" name="Shape 22"/>
          <p:cNvSpPr/>
          <p:nvPr/>
        </p:nvSpPr>
        <p:spPr>
          <a:xfrm>
            <a:off x="10277856" y="4288536"/>
            <a:ext cx="658368" cy="658368"/>
          </a:xfrm>
          <a:prstGeom prst="ellipse">
            <a:avLst/>
          </a:prstGeom>
          <a:solidFill>
            <a:srgbClr val="2F86EB"/>
          </a:solidFill>
          <a:ln/>
          <a:effectLst>
            <a:outerShdw sx="100000" sy="100000" kx="0" ky="0" algn="bl" rotWithShape="0" blurRad="76200" dist="25400" dir="5400000">
              <a:srgbClr val="1B2A41">
                <a:alpha val="25000"/>
              </a:srgbClr>
            </a:outerShdw>
          </a:effectLst>
        </p:spPr>
      </p:sp>
      <p:pic>
        <p:nvPicPr>
          <p:cNvPr id="28" name="Image 3" descr="/home/claude/ai_deck/icons/play-white.png">    </p:cNvPr>
          <p:cNvPicPr>
            <a:picLocks noChangeAspect="1"/>
          </p:cNvPicPr>
          <p:nvPr/>
        </p:nvPicPr>
        <p:blipFill>
          <a:blip r:embed="rId4"/>
          <a:stretch>
            <a:fillRect/>
          </a:stretch>
        </p:blipFill>
        <p:spPr>
          <a:xfrm>
            <a:off x="10442448" y="4453128"/>
            <a:ext cx="329184" cy="329184"/>
          </a:xfrm>
          <a:prstGeom prst="rect">
            <a:avLst/>
          </a:prstGeom>
        </p:spPr>
      </p:pic>
      <p:sp>
        <p:nvSpPr>
          <p:cNvPr id="29" name="Text 23"/>
          <p:cNvSpPr/>
          <p:nvPr/>
        </p:nvSpPr>
        <p:spPr>
          <a:xfrm>
            <a:off x="10104120" y="5029200"/>
            <a:ext cx="1005840" cy="274320"/>
          </a:xfrm>
          <a:prstGeom prst="rect">
            <a:avLst/>
          </a:prstGeom>
          <a:noFill/>
          <a:ln/>
        </p:spPr>
        <p:txBody>
          <a:bodyPr wrap="square"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Video</a:t>
            </a:r>
            <a:endParaRPr lang="en-US" sz="1050" dirty="0"/>
          </a:p>
        </p:txBody>
      </p:sp>
      <p:sp>
        <p:nvSpPr>
          <p:cNvPr id="30" name="Text 24"/>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31" name="Text 2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Future Trends in AI</a:t>
            </a:r>
            <a:endParaRPr lang="en-US" sz="3000" dirty="0"/>
          </a:p>
        </p:txBody>
      </p:sp>
      <p:sp>
        <p:nvSpPr>
          <p:cNvPr id="4" name="Shape 2"/>
          <p:cNvSpPr/>
          <p:nvPr/>
        </p:nvSpPr>
        <p:spPr>
          <a:xfrm>
            <a:off x="640080" y="1600200"/>
            <a:ext cx="2651760" cy="2148840"/>
          </a:xfrm>
          <a:prstGeom prst="roundRect">
            <a:avLst>
              <a:gd name="adj" fmla="val 4255"/>
            </a:avLst>
          </a:prstGeom>
          <a:solidFill>
            <a:srgbClr val="132F55"/>
          </a:solidFill>
          <a:ln/>
        </p:spPr>
      </p:sp>
      <p:sp>
        <p:nvSpPr>
          <p:cNvPr id="5" name="Shape 3"/>
          <p:cNvSpPr/>
          <p:nvPr/>
        </p:nvSpPr>
        <p:spPr>
          <a:xfrm>
            <a:off x="1655064" y="179222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6" name="Image 0" descr="/home/claude/ai_deck/icons/rocket-white.png">    </p:cNvPr>
          <p:cNvPicPr>
            <a:picLocks noChangeAspect="1"/>
          </p:cNvPicPr>
          <p:nvPr/>
        </p:nvPicPr>
        <p:blipFill>
          <a:blip r:embed="rId1"/>
          <a:stretch>
            <a:fillRect/>
          </a:stretch>
        </p:blipFill>
        <p:spPr>
          <a:xfrm>
            <a:off x="1810512" y="1947672"/>
            <a:ext cx="310896" cy="310896"/>
          </a:xfrm>
          <a:prstGeom prst="rect">
            <a:avLst/>
          </a:prstGeom>
        </p:spPr>
      </p:pic>
      <p:sp>
        <p:nvSpPr>
          <p:cNvPr id="7" name="Text 4"/>
          <p:cNvSpPr/>
          <p:nvPr/>
        </p:nvSpPr>
        <p:spPr>
          <a:xfrm>
            <a:off x="777240" y="251460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Artificial General Intelligence</a:t>
            </a:r>
            <a:endParaRPr lang="en-US" sz="1150" dirty="0"/>
          </a:p>
        </p:txBody>
      </p:sp>
      <p:sp>
        <p:nvSpPr>
          <p:cNvPr id="8" name="Text 5"/>
          <p:cNvSpPr/>
          <p:nvPr/>
        </p:nvSpPr>
        <p:spPr>
          <a:xfrm>
            <a:off x="777240" y="295351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AI that reasons across any task, like a human</a:t>
            </a:r>
            <a:endParaRPr lang="en-US" sz="950" dirty="0"/>
          </a:p>
        </p:txBody>
      </p:sp>
      <p:sp>
        <p:nvSpPr>
          <p:cNvPr id="9" name="Shape 6"/>
          <p:cNvSpPr/>
          <p:nvPr/>
        </p:nvSpPr>
        <p:spPr>
          <a:xfrm>
            <a:off x="3456432" y="1600200"/>
            <a:ext cx="2651760" cy="2148840"/>
          </a:xfrm>
          <a:prstGeom prst="roundRect">
            <a:avLst>
              <a:gd name="adj" fmla="val 4255"/>
            </a:avLst>
          </a:prstGeom>
          <a:solidFill>
            <a:srgbClr val="132F55"/>
          </a:solidFill>
          <a:ln/>
        </p:spPr>
      </p:sp>
      <p:sp>
        <p:nvSpPr>
          <p:cNvPr id="10" name="Shape 7"/>
          <p:cNvSpPr/>
          <p:nvPr/>
        </p:nvSpPr>
        <p:spPr>
          <a:xfrm>
            <a:off x="4471416" y="179222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1" name="Image 1" descr="/home/claude/ai_deck/icons/heartbeat-white.png">    </p:cNvPr>
          <p:cNvPicPr>
            <a:picLocks noChangeAspect="1"/>
          </p:cNvPicPr>
          <p:nvPr/>
        </p:nvPicPr>
        <p:blipFill>
          <a:blip r:embed="rId2"/>
          <a:stretch>
            <a:fillRect/>
          </a:stretch>
        </p:blipFill>
        <p:spPr>
          <a:xfrm>
            <a:off x="4626864" y="1947672"/>
            <a:ext cx="310896" cy="310896"/>
          </a:xfrm>
          <a:prstGeom prst="rect">
            <a:avLst/>
          </a:prstGeom>
        </p:spPr>
      </p:pic>
      <p:sp>
        <p:nvSpPr>
          <p:cNvPr id="12" name="Text 8"/>
          <p:cNvSpPr/>
          <p:nvPr/>
        </p:nvSpPr>
        <p:spPr>
          <a:xfrm>
            <a:off x="3593592" y="251460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AI in Healthcare</a:t>
            </a:r>
            <a:endParaRPr lang="en-US" sz="1150" dirty="0"/>
          </a:p>
        </p:txBody>
      </p:sp>
      <p:sp>
        <p:nvSpPr>
          <p:cNvPr id="13" name="Text 9"/>
          <p:cNvSpPr/>
          <p:nvPr/>
        </p:nvSpPr>
        <p:spPr>
          <a:xfrm>
            <a:off x="3593592" y="295351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Faster diagnosis &amp; personalized treatment</a:t>
            </a:r>
            <a:endParaRPr lang="en-US" sz="950" dirty="0"/>
          </a:p>
        </p:txBody>
      </p:sp>
      <p:sp>
        <p:nvSpPr>
          <p:cNvPr id="14" name="Shape 10"/>
          <p:cNvSpPr/>
          <p:nvPr/>
        </p:nvSpPr>
        <p:spPr>
          <a:xfrm>
            <a:off x="6272784" y="1600200"/>
            <a:ext cx="2651760" cy="2148840"/>
          </a:xfrm>
          <a:prstGeom prst="roundRect">
            <a:avLst>
              <a:gd name="adj" fmla="val 4255"/>
            </a:avLst>
          </a:prstGeom>
          <a:solidFill>
            <a:srgbClr val="132F55"/>
          </a:solidFill>
          <a:ln/>
        </p:spPr>
      </p:sp>
      <p:sp>
        <p:nvSpPr>
          <p:cNvPr id="15" name="Shape 11"/>
          <p:cNvSpPr/>
          <p:nvPr/>
        </p:nvSpPr>
        <p:spPr>
          <a:xfrm>
            <a:off x="7287768" y="179222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6" name="Image 2" descr="/home/claude/ai_deck/icons/graduation-white.png">    </p:cNvPr>
          <p:cNvPicPr>
            <a:picLocks noChangeAspect="1"/>
          </p:cNvPicPr>
          <p:nvPr/>
        </p:nvPicPr>
        <p:blipFill>
          <a:blip r:embed="rId3"/>
          <a:stretch>
            <a:fillRect/>
          </a:stretch>
        </p:blipFill>
        <p:spPr>
          <a:xfrm>
            <a:off x="7443216" y="1947672"/>
            <a:ext cx="310896" cy="310896"/>
          </a:xfrm>
          <a:prstGeom prst="rect">
            <a:avLst/>
          </a:prstGeom>
        </p:spPr>
      </p:pic>
      <p:sp>
        <p:nvSpPr>
          <p:cNvPr id="17" name="Text 12"/>
          <p:cNvSpPr/>
          <p:nvPr/>
        </p:nvSpPr>
        <p:spPr>
          <a:xfrm>
            <a:off x="6409944" y="251460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AI in Education</a:t>
            </a:r>
            <a:endParaRPr lang="en-US" sz="1150" dirty="0"/>
          </a:p>
        </p:txBody>
      </p:sp>
      <p:sp>
        <p:nvSpPr>
          <p:cNvPr id="18" name="Text 13"/>
          <p:cNvSpPr/>
          <p:nvPr/>
        </p:nvSpPr>
        <p:spPr>
          <a:xfrm>
            <a:off x="6409944" y="295351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Personalized, adaptive learning for students</a:t>
            </a:r>
            <a:endParaRPr lang="en-US" sz="950" dirty="0"/>
          </a:p>
        </p:txBody>
      </p:sp>
      <p:sp>
        <p:nvSpPr>
          <p:cNvPr id="19" name="Shape 14"/>
          <p:cNvSpPr/>
          <p:nvPr/>
        </p:nvSpPr>
        <p:spPr>
          <a:xfrm>
            <a:off x="9089136" y="1600200"/>
            <a:ext cx="2651760" cy="2148840"/>
          </a:xfrm>
          <a:prstGeom prst="roundRect">
            <a:avLst>
              <a:gd name="adj" fmla="val 4255"/>
            </a:avLst>
          </a:prstGeom>
          <a:solidFill>
            <a:srgbClr val="132F55"/>
          </a:solidFill>
          <a:ln/>
        </p:spPr>
      </p:sp>
      <p:sp>
        <p:nvSpPr>
          <p:cNvPr id="20" name="Shape 15"/>
          <p:cNvSpPr/>
          <p:nvPr/>
        </p:nvSpPr>
        <p:spPr>
          <a:xfrm>
            <a:off x="10104120" y="179222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21" name="Image 3" descr="/home/claude/ai_deck/icons/cogs-white.png">    </p:cNvPr>
          <p:cNvPicPr>
            <a:picLocks noChangeAspect="1"/>
          </p:cNvPicPr>
          <p:nvPr/>
        </p:nvPicPr>
        <p:blipFill>
          <a:blip r:embed="rId4"/>
          <a:stretch>
            <a:fillRect/>
          </a:stretch>
        </p:blipFill>
        <p:spPr>
          <a:xfrm>
            <a:off x="10259568" y="1947672"/>
            <a:ext cx="310896" cy="310896"/>
          </a:xfrm>
          <a:prstGeom prst="rect">
            <a:avLst/>
          </a:prstGeom>
        </p:spPr>
      </p:pic>
      <p:sp>
        <p:nvSpPr>
          <p:cNvPr id="22" name="Text 16"/>
          <p:cNvSpPr/>
          <p:nvPr/>
        </p:nvSpPr>
        <p:spPr>
          <a:xfrm>
            <a:off x="9226296" y="251460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Robotics</a:t>
            </a:r>
            <a:endParaRPr lang="en-US" sz="1150" dirty="0"/>
          </a:p>
        </p:txBody>
      </p:sp>
      <p:sp>
        <p:nvSpPr>
          <p:cNvPr id="23" name="Text 17"/>
          <p:cNvSpPr/>
          <p:nvPr/>
        </p:nvSpPr>
        <p:spPr>
          <a:xfrm>
            <a:off x="9226296" y="295351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Smarter machines for industry &amp; daily life</a:t>
            </a:r>
            <a:endParaRPr lang="en-US" sz="950" dirty="0"/>
          </a:p>
        </p:txBody>
      </p:sp>
      <p:sp>
        <p:nvSpPr>
          <p:cNvPr id="24" name="Shape 18"/>
          <p:cNvSpPr/>
          <p:nvPr/>
        </p:nvSpPr>
        <p:spPr>
          <a:xfrm>
            <a:off x="640080" y="3931920"/>
            <a:ext cx="2651760" cy="2148840"/>
          </a:xfrm>
          <a:prstGeom prst="roundRect">
            <a:avLst>
              <a:gd name="adj" fmla="val 4255"/>
            </a:avLst>
          </a:prstGeom>
          <a:solidFill>
            <a:srgbClr val="132F55"/>
          </a:solidFill>
          <a:ln/>
        </p:spPr>
      </p:sp>
      <p:sp>
        <p:nvSpPr>
          <p:cNvPr id="25" name="Shape 19"/>
          <p:cNvSpPr/>
          <p:nvPr/>
        </p:nvSpPr>
        <p:spPr>
          <a:xfrm>
            <a:off x="1655064" y="412394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26" name="Image 4" descr="/home/claude/ai_deck/icons/car-white.png">    </p:cNvPr>
          <p:cNvPicPr>
            <a:picLocks noChangeAspect="1"/>
          </p:cNvPicPr>
          <p:nvPr/>
        </p:nvPicPr>
        <p:blipFill>
          <a:blip r:embed="rId5"/>
          <a:stretch>
            <a:fillRect/>
          </a:stretch>
        </p:blipFill>
        <p:spPr>
          <a:xfrm>
            <a:off x="1810512" y="4279392"/>
            <a:ext cx="310896" cy="310896"/>
          </a:xfrm>
          <a:prstGeom prst="rect">
            <a:avLst/>
          </a:prstGeom>
        </p:spPr>
      </p:pic>
      <p:sp>
        <p:nvSpPr>
          <p:cNvPr id="27" name="Text 20"/>
          <p:cNvSpPr/>
          <p:nvPr/>
        </p:nvSpPr>
        <p:spPr>
          <a:xfrm>
            <a:off x="777240" y="484632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Autonomous Vehicles</a:t>
            </a:r>
            <a:endParaRPr lang="en-US" sz="1150" dirty="0"/>
          </a:p>
        </p:txBody>
      </p:sp>
      <p:sp>
        <p:nvSpPr>
          <p:cNvPr id="28" name="Text 21"/>
          <p:cNvSpPr/>
          <p:nvPr/>
        </p:nvSpPr>
        <p:spPr>
          <a:xfrm>
            <a:off x="777240" y="528523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Self-driving cars navigating real-world roads</a:t>
            </a:r>
            <a:endParaRPr lang="en-US" sz="950" dirty="0"/>
          </a:p>
        </p:txBody>
      </p:sp>
      <p:sp>
        <p:nvSpPr>
          <p:cNvPr id="29" name="Shape 22"/>
          <p:cNvSpPr/>
          <p:nvPr/>
        </p:nvSpPr>
        <p:spPr>
          <a:xfrm>
            <a:off x="3456432" y="3931920"/>
            <a:ext cx="2651760" cy="2148840"/>
          </a:xfrm>
          <a:prstGeom prst="roundRect">
            <a:avLst>
              <a:gd name="adj" fmla="val 4255"/>
            </a:avLst>
          </a:prstGeom>
          <a:solidFill>
            <a:srgbClr val="132F55"/>
          </a:solidFill>
          <a:ln/>
        </p:spPr>
      </p:sp>
      <p:sp>
        <p:nvSpPr>
          <p:cNvPr id="30" name="Shape 23"/>
          <p:cNvSpPr/>
          <p:nvPr/>
        </p:nvSpPr>
        <p:spPr>
          <a:xfrm>
            <a:off x="4471416" y="412394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31" name="Image 5" descr="/home/claude/ai_deck/icons/wifi-white.png">    </p:cNvPr>
          <p:cNvPicPr>
            <a:picLocks noChangeAspect="1"/>
          </p:cNvPicPr>
          <p:nvPr/>
        </p:nvPicPr>
        <p:blipFill>
          <a:blip r:embed="rId6"/>
          <a:stretch>
            <a:fillRect/>
          </a:stretch>
        </p:blipFill>
        <p:spPr>
          <a:xfrm>
            <a:off x="4626864" y="4279392"/>
            <a:ext cx="310896" cy="310896"/>
          </a:xfrm>
          <a:prstGeom prst="rect">
            <a:avLst/>
          </a:prstGeom>
        </p:spPr>
      </p:pic>
      <p:sp>
        <p:nvSpPr>
          <p:cNvPr id="32" name="Text 24"/>
          <p:cNvSpPr/>
          <p:nvPr/>
        </p:nvSpPr>
        <p:spPr>
          <a:xfrm>
            <a:off x="3593592" y="484632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AI + IoT</a:t>
            </a:r>
            <a:endParaRPr lang="en-US" sz="1150" dirty="0"/>
          </a:p>
        </p:txBody>
      </p:sp>
      <p:sp>
        <p:nvSpPr>
          <p:cNvPr id="33" name="Text 25"/>
          <p:cNvSpPr/>
          <p:nvPr/>
        </p:nvSpPr>
        <p:spPr>
          <a:xfrm>
            <a:off x="3593592" y="528523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Smart devices that sense &amp; act together</a:t>
            </a:r>
            <a:endParaRPr lang="en-US" sz="950" dirty="0"/>
          </a:p>
        </p:txBody>
      </p:sp>
      <p:sp>
        <p:nvSpPr>
          <p:cNvPr id="34" name="Shape 26"/>
          <p:cNvSpPr/>
          <p:nvPr/>
        </p:nvSpPr>
        <p:spPr>
          <a:xfrm>
            <a:off x="6272784" y="3931920"/>
            <a:ext cx="2651760" cy="2148840"/>
          </a:xfrm>
          <a:prstGeom prst="roundRect">
            <a:avLst>
              <a:gd name="adj" fmla="val 4255"/>
            </a:avLst>
          </a:prstGeom>
          <a:solidFill>
            <a:srgbClr val="132F55"/>
          </a:solidFill>
          <a:ln/>
        </p:spPr>
      </p:sp>
      <p:sp>
        <p:nvSpPr>
          <p:cNvPr id="35" name="Shape 27"/>
          <p:cNvSpPr/>
          <p:nvPr/>
        </p:nvSpPr>
        <p:spPr>
          <a:xfrm>
            <a:off x="7287768" y="412394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36" name="Image 6" descr="/home/claude/ai_deck/icons/eye-white.png">    </p:cNvPr>
          <p:cNvPicPr>
            <a:picLocks noChangeAspect="1"/>
          </p:cNvPicPr>
          <p:nvPr/>
        </p:nvPicPr>
        <p:blipFill>
          <a:blip r:embed="rId7"/>
          <a:stretch>
            <a:fillRect/>
          </a:stretch>
        </p:blipFill>
        <p:spPr>
          <a:xfrm>
            <a:off x="7443216" y="4279392"/>
            <a:ext cx="310896" cy="310896"/>
          </a:xfrm>
          <a:prstGeom prst="rect">
            <a:avLst/>
          </a:prstGeom>
        </p:spPr>
      </p:pic>
      <p:sp>
        <p:nvSpPr>
          <p:cNvPr id="37" name="Text 28"/>
          <p:cNvSpPr/>
          <p:nvPr/>
        </p:nvSpPr>
        <p:spPr>
          <a:xfrm>
            <a:off x="6409944" y="484632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Explainable AI</a:t>
            </a:r>
            <a:endParaRPr lang="en-US" sz="1150" dirty="0"/>
          </a:p>
        </p:txBody>
      </p:sp>
      <p:sp>
        <p:nvSpPr>
          <p:cNvPr id="38" name="Text 29"/>
          <p:cNvSpPr/>
          <p:nvPr/>
        </p:nvSpPr>
        <p:spPr>
          <a:xfrm>
            <a:off x="6409944" y="528523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Making AI decisions transparent &amp; understandable</a:t>
            </a:r>
            <a:endParaRPr lang="en-US" sz="950" dirty="0"/>
          </a:p>
        </p:txBody>
      </p:sp>
      <p:sp>
        <p:nvSpPr>
          <p:cNvPr id="39" name="Shape 30"/>
          <p:cNvSpPr/>
          <p:nvPr/>
        </p:nvSpPr>
        <p:spPr>
          <a:xfrm>
            <a:off x="9089136" y="3931920"/>
            <a:ext cx="2651760" cy="2148840"/>
          </a:xfrm>
          <a:prstGeom prst="roundRect">
            <a:avLst>
              <a:gd name="adj" fmla="val 4255"/>
            </a:avLst>
          </a:prstGeom>
          <a:solidFill>
            <a:srgbClr val="132F55"/>
          </a:solidFill>
          <a:ln/>
        </p:spPr>
      </p:sp>
      <p:sp>
        <p:nvSpPr>
          <p:cNvPr id="40" name="Shape 31"/>
          <p:cNvSpPr/>
          <p:nvPr/>
        </p:nvSpPr>
        <p:spPr>
          <a:xfrm>
            <a:off x="10104120" y="4123944"/>
            <a:ext cx="621792" cy="621792"/>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41" name="Image 7" descr="/home/claude/ai_deck/icons/balance-white.png">    </p:cNvPr>
          <p:cNvPicPr>
            <a:picLocks noChangeAspect="1"/>
          </p:cNvPicPr>
          <p:nvPr/>
        </p:nvPicPr>
        <p:blipFill>
          <a:blip r:embed="rId8"/>
          <a:stretch>
            <a:fillRect/>
          </a:stretch>
        </p:blipFill>
        <p:spPr>
          <a:xfrm>
            <a:off x="10259568" y="4279392"/>
            <a:ext cx="310896" cy="310896"/>
          </a:xfrm>
          <a:prstGeom prst="rect">
            <a:avLst/>
          </a:prstGeom>
        </p:spPr>
      </p:pic>
      <p:sp>
        <p:nvSpPr>
          <p:cNvPr id="42" name="Text 32"/>
          <p:cNvSpPr/>
          <p:nvPr/>
        </p:nvSpPr>
        <p:spPr>
          <a:xfrm>
            <a:off x="9226296" y="4846320"/>
            <a:ext cx="2377440" cy="45720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Responsible AI</a:t>
            </a:r>
            <a:endParaRPr lang="en-US" sz="1150" dirty="0"/>
          </a:p>
        </p:txBody>
      </p:sp>
      <p:sp>
        <p:nvSpPr>
          <p:cNvPr id="43" name="Text 33"/>
          <p:cNvSpPr/>
          <p:nvPr/>
        </p:nvSpPr>
        <p:spPr>
          <a:xfrm>
            <a:off x="9226296" y="5285232"/>
            <a:ext cx="2377440" cy="731520"/>
          </a:xfrm>
          <a:prstGeom prst="rect">
            <a:avLst/>
          </a:prstGeom>
          <a:noFill/>
          <a:ln/>
        </p:spPr>
        <p:txBody>
          <a:bodyPr wrap="square" rtlCol="0" anchor="t"/>
          <a:lstStyle/>
          <a:p>
            <a:pPr algn="ctr" indent="0" marL="0">
              <a:buNone/>
            </a:pPr>
            <a:r>
              <a:rPr lang="en-US" sz="950" dirty="0">
                <a:solidFill>
                  <a:srgbClr val="AEC6E3"/>
                </a:solidFill>
                <a:latin typeface="Calibri" pitchFamily="34" charset="0"/>
                <a:ea typeface="Calibri" pitchFamily="34" charset="-122"/>
                <a:cs typeface="Calibri" pitchFamily="34" charset="-120"/>
              </a:rPr>
              <a:t>Fair, safe &amp; ethical AI for everyone</a:t>
            </a:r>
            <a:endParaRPr lang="en-US" sz="950" dirty="0"/>
          </a:p>
        </p:txBody>
      </p:sp>
      <p:sp>
        <p:nvSpPr>
          <p:cNvPr id="44" name="Text 34"/>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AEC6E3"/>
                </a:solidFill>
                <a:latin typeface="Calibri" pitchFamily="34" charset="0"/>
                <a:ea typeface="Calibri" pitchFamily="34" charset="-122"/>
                <a:cs typeface="Calibri" pitchFamily="34" charset="-120"/>
              </a:rPr>
              <a:t>EVOLUTION OF ARTIFICIAL INTELLIGENCE</a:t>
            </a:r>
            <a:endParaRPr lang="en-US" sz="900" dirty="0"/>
          </a:p>
        </p:txBody>
      </p:sp>
      <p:sp>
        <p:nvSpPr>
          <p:cNvPr id="45" name="Text 3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AT A GLANCE</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Comparison of AI Evolution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206240"/>
        </p:xfrm>
        <a:graphic>
          <a:graphicData uri="http://schemas.openxmlformats.org/drawingml/2006/table">
            <a:tbl>
              <a:tblPr/>
              <a:tblGrid>
                <a:gridCol w="2194560"/>
                <a:gridCol w="3200400"/>
                <a:gridCol w="3108960"/>
                <a:gridCol w="2560320"/>
              </a:tblGrid>
              <a:tr h="54864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0B254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Main Idea</a:t>
                      </a:r>
                      <a:endParaRPr lang="en-US" sz="12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0B254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0B254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Limitation</a:t>
                      </a:r>
                      <a:endParaRPr lang="en-US" sz="12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0B2545"/>
                    </a:solidFill>
                  </a:tcPr>
                </a:tc>
              </a:tr>
              <a:tr h="91440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Early AI</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Fixed, hand-coded rules &amp; logic</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Expert systems (MYCIN)</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Cannot learn or adapt</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r>
              <a:tr h="91440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Machine Learning</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Learns patterns from data</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Spam &amp; fraud detection</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Needs large, clean datasets</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r>
              <a:tr h="91440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Deep Learning</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Multi-layer neural networks</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Face recognition, self-driving cars</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High compute cost; “black box”</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E8F1FB"/>
                    </a:solidFill>
                  </a:tcPr>
                </a:tc>
              </a:tr>
              <a:tr h="91440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Generative AI</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Creates new content from prompts</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ChatGPT, DALL·E, Midjourney</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545"/>
                          </a:solidFill>
                          <a:latin typeface="Calibri" pitchFamily="34" charset="0"/>
                          <a:ea typeface="Calibri" pitchFamily="34" charset="-122"/>
                          <a:cs typeface="Calibri" pitchFamily="34" charset="-120"/>
                        </a:rPr>
                        <a:t>Bias, misinformation, ethics</a:t>
                      </a:r>
                      <a:endParaRPr lang="en-US" sz="1150" dirty="0">
                        <a:latin typeface="Calibri" charset="0"/>
                        <a:ea typeface="Calibri" charset="0"/>
                        <a:cs typeface="Calibri" charset="0"/>
                      </a:endParaRPr>
                    </a:p>
                  </a:txBody>
                  <a:tcPr marL="91440" marR="91440" marT="45720" marB="45720" anchor="ctr">
                    <a:lnL w="12700" cap="flat" cmpd="sng" algn="ctr">
                      <a:solidFill>
                        <a:srgbClr val="D7E3F0"/>
                      </a:solidFill>
                      <a:prstDash val="solid"/>
                      <a:round/>
                      <a:headEnd type="none" w="med" len="med"/>
                      <a:tailEnd type="none" w="med" len="med"/>
                    </a:lnL>
                    <a:lnR w="12700" cap="flat" cmpd="sng" algn="ctr">
                      <a:solidFill>
                        <a:srgbClr val="D7E3F0"/>
                      </a:solidFill>
                      <a:prstDash val="solid"/>
                      <a:round/>
                      <a:headEnd type="none" w="med" len="med"/>
                      <a:tailEnd type="none" w="med" len="med"/>
                    </a:lnR>
                    <a:lnT w="12700" cap="flat" cmpd="sng" algn="ctr">
                      <a:solidFill>
                        <a:srgbClr val="D7E3F0"/>
                      </a:solidFill>
                      <a:prstDash val="solid"/>
                      <a:round/>
                      <a:headEnd type="none" w="med" len="med"/>
                      <a:tailEnd type="none" w="med" len="med"/>
                    </a:lnT>
                    <a:lnB w="12700" cap="flat" cmpd="sng" algn="ctr">
                      <a:solidFill>
                        <a:srgbClr val="D7E3F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6" name="Text 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Simple Rules to Creative Machines</a:t>
            </a:r>
            <a:endParaRPr lang="en-US" sz="2800" dirty="0"/>
          </a:p>
        </p:txBody>
      </p:sp>
      <p:sp>
        <p:nvSpPr>
          <p:cNvPr id="4" name="Shape 2"/>
          <p:cNvSpPr/>
          <p:nvPr/>
        </p:nvSpPr>
        <p:spPr>
          <a:xfrm>
            <a:off x="662940" y="1714500"/>
            <a:ext cx="777240" cy="777240"/>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5" name="Image 0" descr="/home/claude/ai_deck/icons/history-white.png">    </p:cNvPr>
          <p:cNvPicPr>
            <a:picLocks noChangeAspect="1"/>
          </p:cNvPicPr>
          <p:nvPr/>
        </p:nvPicPr>
        <p:blipFill>
          <a:blip r:embed="rId1"/>
          <a:stretch>
            <a:fillRect/>
          </a:stretch>
        </p:blipFill>
        <p:spPr>
          <a:xfrm>
            <a:off x="857250" y="1908810"/>
            <a:ext cx="388620" cy="388620"/>
          </a:xfrm>
          <a:prstGeom prst="rect">
            <a:avLst/>
          </a:prstGeom>
        </p:spPr>
      </p:pic>
      <p:sp>
        <p:nvSpPr>
          <p:cNvPr id="6" name="Text 3"/>
          <p:cNvSpPr/>
          <p:nvPr/>
        </p:nvSpPr>
        <p:spPr>
          <a:xfrm>
            <a:off x="1691640" y="1737360"/>
            <a:ext cx="896112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 Remarkable Journey</a:t>
            </a:r>
            <a:endParaRPr lang="en-US" sz="1550" dirty="0"/>
          </a:p>
        </p:txBody>
      </p:sp>
      <p:sp>
        <p:nvSpPr>
          <p:cNvPr id="7" name="Text 4"/>
          <p:cNvSpPr/>
          <p:nvPr/>
        </p:nvSpPr>
        <p:spPr>
          <a:xfrm>
            <a:off x="1691640" y="2066544"/>
            <a:ext cx="8961120" cy="502920"/>
          </a:xfrm>
          <a:prstGeom prst="rect">
            <a:avLst/>
          </a:prstGeom>
          <a:noFill/>
          <a:ln/>
        </p:spPr>
        <p:txBody>
          <a:bodyPr wrap="square" rtlCol="0" anchor="ctr"/>
          <a:lstStyle/>
          <a:p>
            <a:pPr indent="0" marL="0">
              <a:buNone/>
            </a:pPr>
            <a:r>
              <a:rPr lang="en-US" sz="1250" dirty="0">
                <a:solidFill>
                  <a:srgbClr val="AEC6E3"/>
                </a:solidFill>
                <a:latin typeface="Calibri" pitchFamily="34" charset="0"/>
                <a:ea typeface="Calibri" pitchFamily="34" charset="-122"/>
                <a:cs typeface="Calibri" pitchFamily="34" charset="-120"/>
              </a:rPr>
              <a:t>AI evolved from rigid rule-based systems (1950s) to machines that learn (ML), understand deeply (DL), and now create (Generative AI).</a:t>
            </a:r>
            <a:endParaRPr lang="en-US" sz="1250" dirty="0"/>
          </a:p>
        </p:txBody>
      </p:sp>
      <p:sp>
        <p:nvSpPr>
          <p:cNvPr id="8" name="Shape 5"/>
          <p:cNvSpPr/>
          <p:nvPr/>
        </p:nvSpPr>
        <p:spPr>
          <a:xfrm>
            <a:off x="662940" y="2766060"/>
            <a:ext cx="777240" cy="777240"/>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9" name="Image 1" descr="/home/claude/ai_deck/icons/shield-white.png">    </p:cNvPr>
          <p:cNvPicPr>
            <a:picLocks noChangeAspect="1"/>
          </p:cNvPicPr>
          <p:nvPr/>
        </p:nvPicPr>
        <p:blipFill>
          <a:blip r:embed="rId2"/>
          <a:stretch>
            <a:fillRect/>
          </a:stretch>
        </p:blipFill>
        <p:spPr>
          <a:xfrm>
            <a:off x="857250" y="2960370"/>
            <a:ext cx="388620" cy="388620"/>
          </a:xfrm>
          <a:prstGeom prst="rect">
            <a:avLst/>
          </a:prstGeom>
        </p:spPr>
      </p:pic>
      <p:sp>
        <p:nvSpPr>
          <p:cNvPr id="10" name="Text 6"/>
          <p:cNvSpPr/>
          <p:nvPr/>
        </p:nvSpPr>
        <p:spPr>
          <a:xfrm>
            <a:off x="1691640" y="2788920"/>
            <a:ext cx="896112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Responsible AI Matters</a:t>
            </a:r>
            <a:endParaRPr lang="en-US" sz="1550" dirty="0"/>
          </a:p>
        </p:txBody>
      </p:sp>
      <p:sp>
        <p:nvSpPr>
          <p:cNvPr id="11" name="Text 7"/>
          <p:cNvSpPr/>
          <p:nvPr/>
        </p:nvSpPr>
        <p:spPr>
          <a:xfrm>
            <a:off x="1691640" y="3118104"/>
            <a:ext cx="8961120" cy="502920"/>
          </a:xfrm>
          <a:prstGeom prst="rect">
            <a:avLst/>
          </a:prstGeom>
          <a:noFill/>
          <a:ln/>
        </p:spPr>
        <p:txBody>
          <a:bodyPr wrap="square" rtlCol="0" anchor="ctr"/>
          <a:lstStyle/>
          <a:p>
            <a:pPr indent="0" marL="0">
              <a:buNone/>
            </a:pPr>
            <a:r>
              <a:rPr lang="en-US" sz="1250" dirty="0">
                <a:solidFill>
                  <a:srgbClr val="AEC6E3"/>
                </a:solidFill>
                <a:latin typeface="Calibri" pitchFamily="34" charset="0"/>
                <a:ea typeface="Calibri" pitchFamily="34" charset="-122"/>
                <a:cs typeface="Calibri" pitchFamily="34" charset="-120"/>
              </a:rPr>
              <a:t>As AI grows more powerful, fairness, transparency, and ethics must grow with it.</a:t>
            </a:r>
            <a:endParaRPr lang="en-US" sz="1250" dirty="0"/>
          </a:p>
        </p:txBody>
      </p:sp>
      <p:sp>
        <p:nvSpPr>
          <p:cNvPr id="12" name="Shape 8"/>
          <p:cNvSpPr/>
          <p:nvPr/>
        </p:nvSpPr>
        <p:spPr>
          <a:xfrm>
            <a:off x="662940" y="3817620"/>
            <a:ext cx="777240" cy="777240"/>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13" name="Image 2" descr="/home/claude/ai_deck/icons/rocket-white.png">    </p:cNvPr>
          <p:cNvPicPr>
            <a:picLocks noChangeAspect="1"/>
          </p:cNvPicPr>
          <p:nvPr/>
        </p:nvPicPr>
        <p:blipFill>
          <a:blip r:embed="rId3"/>
          <a:stretch>
            <a:fillRect/>
          </a:stretch>
        </p:blipFill>
        <p:spPr>
          <a:xfrm>
            <a:off x="857250" y="4011930"/>
            <a:ext cx="388620" cy="388620"/>
          </a:xfrm>
          <a:prstGeom prst="rect">
            <a:avLst/>
          </a:prstGeom>
        </p:spPr>
      </p:pic>
      <p:sp>
        <p:nvSpPr>
          <p:cNvPr id="14" name="Text 9"/>
          <p:cNvSpPr/>
          <p:nvPr/>
        </p:nvSpPr>
        <p:spPr>
          <a:xfrm>
            <a:off x="1691640" y="3840480"/>
            <a:ext cx="896112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Huge Opportunities Ahead</a:t>
            </a:r>
            <a:endParaRPr lang="en-US" sz="1550" dirty="0"/>
          </a:p>
        </p:txBody>
      </p:sp>
      <p:sp>
        <p:nvSpPr>
          <p:cNvPr id="15" name="Text 10"/>
          <p:cNvSpPr/>
          <p:nvPr/>
        </p:nvSpPr>
        <p:spPr>
          <a:xfrm>
            <a:off x="1691640" y="4169664"/>
            <a:ext cx="8961120" cy="502920"/>
          </a:xfrm>
          <a:prstGeom prst="rect">
            <a:avLst/>
          </a:prstGeom>
          <a:noFill/>
          <a:ln/>
        </p:spPr>
        <p:txBody>
          <a:bodyPr wrap="square" rtlCol="0" anchor="ctr"/>
          <a:lstStyle/>
          <a:p>
            <a:pPr indent="0" marL="0">
              <a:buNone/>
            </a:pPr>
            <a:r>
              <a:rPr lang="en-US" sz="1250" dirty="0">
                <a:solidFill>
                  <a:srgbClr val="AEC6E3"/>
                </a:solidFill>
                <a:latin typeface="Calibri" pitchFamily="34" charset="0"/>
                <a:ea typeface="Calibri" pitchFamily="34" charset="-122"/>
                <a:cs typeface="Calibri" pitchFamily="34" charset="-120"/>
              </a:rPr>
              <a:t>Healthcare, education, robotics &amp; more will be transformed by responsible AI innovation.</a:t>
            </a:r>
            <a:endParaRPr lang="en-US" sz="1250" dirty="0"/>
          </a:p>
        </p:txBody>
      </p:sp>
      <p:sp>
        <p:nvSpPr>
          <p:cNvPr id="16" name="Shape 11"/>
          <p:cNvSpPr/>
          <p:nvPr/>
        </p:nvSpPr>
        <p:spPr>
          <a:xfrm>
            <a:off x="548640" y="5029200"/>
            <a:ext cx="11064240" cy="868680"/>
          </a:xfrm>
          <a:prstGeom prst="roundRect">
            <a:avLst>
              <a:gd name="adj" fmla="val 10526"/>
            </a:avLst>
          </a:prstGeom>
          <a:solidFill>
            <a:srgbClr val="132F55"/>
          </a:solidFill>
          <a:ln/>
        </p:spPr>
      </p:sp>
      <p:sp>
        <p:nvSpPr>
          <p:cNvPr id="17" name="Text 12"/>
          <p:cNvSpPr/>
          <p:nvPr/>
        </p:nvSpPr>
        <p:spPr>
          <a:xfrm>
            <a:off x="868680" y="5029200"/>
            <a:ext cx="10515600" cy="868680"/>
          </a:xfrm>
          <a:prstGeom prst="rect">
            <a:avLst/>
          </a:prstGeom>
          <a:noFill/>
          <a:ln/>
        </p:spPr>
        <p:txBody>
          <a:bodyPr wrap="square" rtlCol="0" anchor="ctr"/>
          <a:lstStyle/>
          <a:p>
            <a:pPr indent="0" marL="0">
              <a:buNone/>
            </a:pPr>
            <a:r>
              <a:rPr lang="en-US" sz="1400" b="1" dirty="0">
                <a:solidFill>
                  <a:srgbClr val="2F86EB"/>
                </a:solidFill>
                <a:latin typeface="Calibri" pitchFamily="34" charset="0"/>
                <a:ea typeface="Calibri" pitchFamily="34" charset="-122"/>
                <a:cs typeface="Calibri" pitchFamily="34" charset="-120"/>
              </a:rPr>
              <a:t>Key Takeaway:  </a:t>
            </a:r>
            <a:pPr indent="0" marL="0">
              <a:buNone/>
            </a:pPr>
            <a:r>
              <a:rPr lang="en-US" sz="1400" i="1" dirty="0">
                <a:solidFill>
                  <a:srgbClr val="FFFFFF"/>
                </a:solidFill>
                <a:latin typeface="Calibri" pitchFamily="34" charset="0"/>
                <a:ea typeface="Calibri" pitchFamily="34" charset="-122"/>
                <a:cs typeface="Calibri" pitchFamily="34" charset="-120"/>
              </a:rPr>
              <a:t>AI is not about replacing human intelligence — it's about amplifying it, responsibly.</a:t>
            </a:r>
            <a:endParaRPr lang="en-US" sz="1400" dirty="0"/>
          </a:p>
        </p:txBody>
      </p:sp>
      <p:sp>
        <p:nvSpPr>
          <p:cNvPr id="18" name="Text 13"/>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AEC6E3"/>
                </a:solidFill>
                <a:latin typeface="Calibri" pitchFamily="34" charset="0"/>
                <a:ea typeface="Calibri" pitchFamily="34" charset="-122"/>
                <a:cs typeface="Calibri" pitchFamily="34" charset="-120"/>
              </a:rPr>
              <a:t>EVOLUTION OF ARTIFICIAL INTELLIGENCE</a:t>
            </a:r>
            <a:endParaRPr lang="en-US" sz="900" dirty="0"/>
          </a:p>
        </p:txBody>
      </p:sp>
      <p:sp>
        <p:nvSpPr>
          <p:cNvPr id="19" name="Text 14"/>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200" kern="0" dirty="0">
                <a:solidFill>
                  <a:srgbClr val="2F86EB"/>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658368"/>
            <a:ext cx="9601200"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10424160" y="640080"/>
            <a:ext cx="822960" cy="822960"/>
          </a:xfrm>
          <a:prstGeom prst="ellipse">
            <a:avLst/>
          </a:prstGeom>
          <a:solidFill>
            <a:srgbClr val="1E5AA8"/>
          </a:solidFill>
          <a:ln/>
          <a:effectLst>
            <a:outerShdw sx="100000" sy="100000" kx="0" ky="0" algn="bl" rotWithShape="0" blurRad="76200" dist="25400" dir="5400000">
              <a:srgbClr val="1B2A41">
                <a:alpha val="25000"/>
              </a:srgbClr>
            </a:outerShdw>
          </a:effectLst>
        </p:spPr>
      </p:sp>
      <p:pic>
        <p:nvPicPr>
          <p:cNvPr id="5" name="Image 0" descr="/home/claude/ai_deck/icons/book-white.png">    </p:cNvPr>
          <p:cNvPicPr>
            <a:picLocks noChangeAspect="1"/>
          </p:cNvPicPr>
          <p:nvPr/>
        </p:nvPicPr>
        <p:blipFill>
          <a:blip r:embed="rId1"/>
          <a:stretch>
            <a:fillRect/>
          </a:stretch>
        </p:blipFill>
        <p:spPr>
          <a:xfrm>
            <a:off x="10629900" y="845820"/>
            <a:ext cx="411480" cy="411480"/>
          </a:xfrm>
          <a:prstGeom prst="rect">
            <a:avLst/>
          </a:prstGeom>
        </p:spPr>
      </p:pic>
      <p:sp>
        <p:nvSpPr>
          <p:cNvPr id="6" name="Text 3"/>
          <p:cNvSpPr/>
          <p:nvPr/>
        </p:nvSpPr>
        <p:spPr>
          <a:xfrm>
            <a:off x="548640" y="1600200"/>
            <a:ext cx="10332720" cy="4297680"/>
          </a:xfrm>
          <a:prstGeom prst="rect">
            <a:avLst/>
          </a:prstGeom>
          <a:noFill/>
          <a:ln/>
        </p:spPr>
        <p:txBody>
          <a:bodyPr wrap="square" rtlCol="0" anchor="t"/>
          <a:lstStyle/>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Russell, S., &amp; Norvig, P. (2021). Artificial Intelligence: A Modern Approach (4th ed.). Pearson.</a:t>
            </a:r>
            <a:endParaRPr lang="en-US" sz="1400" dirty="0"/>
          </a:p>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Goodfellow, I., Bengio, Y., &amp; Courville, A. (2016). Deep Learning. MIT Press.</a:t>
            </a:r>
            <a:endParaRPr lang="en-US" sz="1400" dirty="0"/>
          </a:p>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OpenAI. (2026). OpenAI Research &amp; Documentation. https://openai.com</a:t>
            </a:r>
            <a:endParaRPr lang="en-US" sz="1400" dirty="0"/>
          </a:p>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Google AI. (2026). Google AI Research. https://ai.google</a:t>
            </a:r>
            <a:endParaRPr lang="en-US" sz="1400" dirty="0"/>
          </a:p>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IBM. (2026). IBM Artificial Intelligence. https://www.ibm.com/ai</a:t>
            </a:r>
            <a:endParaRPr lang="en-US" sz="1400" dirty="0"/>
          </a:p>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Microsoft. (2026). Microsoft AI. https://www.microsoft.com/ai</a:t>
            </a:r>
            <a:endParaRPr lang="en-US" sz="1400" dirty="0"/>
          </a:p>
          <a:p>
            <a:pPr marL="203200" indent="-203200">
              <a:lnSpc>
                <a:spcPct val="120000"/>
              </a:lnSpc>
              <a:spcAft>
                <a:spcPts val="1400"/>
              </a:spcAft>
              <a:buSzPct val="100000"/>
              <a:buChar char="•"/>
            </a:pPr>
            <a:r>
              <a:rPr lang="en-US" sz="1400" dirty="0">
                <a:solidFill>
                  <a:srgbClr val="0B2545"/>
                </a:solidFill>
                <a:latin typeface="Calibri" pitchFamily="34" charset="0"/>
                <a:ea typeface="Calibri" pitchFamily="34" charset="-122"/>
                <a:cs typeface="Calibri" pitchFamily="34" charset="-120"/>
              </a:rPr>
              <a:t>IEEE. (2026). IEEE Artificial Intelligence Resources. https://ieee.org</a:t>
            </a:r>
            <a:endParaRPr lang="en-US" sz="1400" dirty="0"/>
          </a:p>
        </p:txBody>
      </p:sp>
      <p:sp>
        <p:nvSpPr>
          <p:cNvPr id="7" name="Text 4"/>
          <p:cNvSpPr/>
          <p:nvPr/>
        </p:nvSpPr>
        <p:spPr>
          <a:xfrm>
            <a:off x="548640" y="6400800"/>
            <a:ext cx="6400800" cy="274320"/>
          </a:xfrm>
          <a:prstGeom prst="rect">
            <a:avLst/>
          </a:prstGeom>
          <a:noFill/>
          <a:ln/>
        </p:spPr>
        <p:txBody>
          <a:bodyPr wrap="square" rtlCol="0" anchor="ctr"/>
          <a:lstStyle/>
          <a:p>
            <a:pPr indent="0" marL="0">
              <a:buNone/>
            </a:pPr>
            <a:r>
              <a:rPr lang="en-US" sz="900" spc="100" kern="0" dirty="0">
                <a:solidFill>
                  <a:srgbClr val="5B6B7C"/>
                </a:solidFill>
                <a:latin typeface="Calibri" pitchFamily="34" charset="0"/>
                <a:ea typeface="Calibri" pitchFamily="34" charset="-122"/>
                <a:cs typeface="Calibri" pitchFamily="34" charset="-120"/>
              </a:rPr>
              <a:t>EVOLUTION OF ARTIFICIAL INTELLIGENCE</a:t>
            </a:r>
            <a:endParaRPr lang="en-US" sz="900" dirty="0"/>
          </a:p>
        </p:txBody>
      </p:sp>
      <p:sp>
        <p:nvSpPr>
          <p:cNvPr id="8" name="Text 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2026-08-07T12:01:30Z</dcterms:created>
  <dcterms:modified xsi:type="dcterms:W3CDTF">2026-08-07T12:01:30Z</dcterms:modified>
</cp:coreProperties>
</file>